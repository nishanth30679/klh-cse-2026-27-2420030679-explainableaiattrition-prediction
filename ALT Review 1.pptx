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66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23" d="100"/>
          <a:sy n="23" d="100"/>
        </p:scale>
        <p:origin x="1013" y="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73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62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391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473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51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100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61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4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4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430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7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563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774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1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34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7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431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268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5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55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87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439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7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5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0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7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42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2.01286?utm_source=chatgpt.com" TargetMode="External"/><Relationship Id="rId7" Type="http://schemas.openxmlformats.org/officeDocument/2006/relationships/hyperlink" Target="https://doi.org/10.1038/s41598-026-36424-2?utm_source=chatgpt.co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eurekamag.com/research/105/316/105316232.php?utm_source=chatgpt.com" TargetMode="External"/><Relationship Id="rId5" Type="http://schemas.openxmlformats.org/officeDocument/2006/relationships/hyperlink" Target="https://doi.org/10.1109/icssas66150.2025.11080889?utm_source=chatgpt.com" TargetMode="External"/><Relationship Id="rId4" Type="http://schemas.openxmlformats.org/officeDocument/2006/relationships/hyperlink" Target="https://doi.org/10.1109/OIDT59407.2024.11082709?utm_source=chatgpt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12905426/?utm_source=chatgpt.com" TargetMode="External"/><Relationship Id="rId7" Type="http://schemas.openxmlformats.org/officeDocument/2006/relationships/image" Target="../media/image6.png"/><Relationship Id="rId2" Type="http://schemas.openxmlformats.org/officeDocument/2006/relationships/hyperlink" Target="https://link.springer.com/article/10.1007/s42979-025-04204-w?utm_source=chatgpt.com" TargetMode="Externa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www.mdpi.com/2073-431X/15/3/185?utm_source=chatgpt.com" TargetMode="External"/><Relationship Id="rId5" Type="http://schemas.openxmlformats.org/officeDocument/2006/relationships/hyperlink" Target="https://www.mdpi.com/2079-8954/13/7/583/html?utm_source=chatgpt.com" TargetMode="External"/><Relationship Id="rId4" Type="http://schemas.openxmlformats.org/officeDocument/2006/relationships/hyperlink" Target="https://www.nature.com/articles/s41598-026-60901-3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0281" y="462717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rPr sz="3200" dirty="0">
                <a:solidFill>
                  <a:srgbClr val="232832"/>
                </a:solidFill>
              </a:rPr>
              <a:t>Explainable AI Framework for Employee Attrition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6212" y="3931697"/>
            <a:ext cx="3238900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800"/>
              </a:spcAft>
              <a:defRPr sz="24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Project </a:t>
            </a:r>
            <a:r>
              <a:rPr lang="en-US" dirty="0">
                <a:solidFill>
                  <a:srgbClr val="232832"/>
                </a:solidFill>
              </a:rPr>
              <a:t>Team</a:t>
            </a:r>
            <a:endParaRPr dirty="0"/>
          </a:p>
          <a:p>
            <a:pPr algn="ctr">
              <a:spcAft>
                <a:spcPts val="18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rPr lang="en-IN" dirty="0">
                <a:solidFill>
                  <a:srgbClr val="232832"/>
                </a:solidFill>
              </a:rPr>
              <a:t> Mahith 2420090095</a:t>
            </a:r>
            <a:endParaRPr lang="en-US" dirty="0"/>
          </a:p>
          <a:p>
            <a:pPr algn="ctr">
              <a:spcAft>
                <a:spcPts val="18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Ch. Charan Teja  </a:t>
            </a:r>
            <a:r>
              <a:rPr lang="en-US" dirty="0">
                <a:solidFill>
                  <a:srgbClr val="232832"/>
                </a:solidFill>
              </a:rPr>
              <a:t>2420090022</a:t>
            </a:r>
          </a:p>
          <a:p>
            <a:pPr algn="ctr">
              <a:spcAft>
                <a:spcPts val="18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G. Nishanth  </a:t>
            </a:r>
            <a:r>
              <a:rPr lang="en-US" dirty="0">
                <a:solidFill>
                  <a:srgbClr val="232832"/>
                </a:solidFill>
              </a:rPr>
              <a:t>2420030679</a:t>
            </a:r>
          </a:p>
          <a:p>
            <a:pPr algn="ctr">
              <a:spcAft>
                <a:spcPts val="1800"/>
              </a:spcAft>
              <a:defRPr sz="1900" b="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 Moksha  </a:t>
            </a:r>
            <a:r>
              <a:rPr lang="en-US" dirty="0">
                <a:solidFill>
                  <a:srgbClr val="232832"/>
                </a:solidFill>
              </a:rPr>
              <a:t>2400090182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9535A-46B3-2C64-61A2-E7E4E6C4B196}"/>
              </a:ext>
            </a:extLst>
          </p:cNvPr>
          <p:cNvSpPr txBox="1"/>
          <p:nvPr/>
        </p:nvSpPr>
        <p:spPr>
          <a:xfrm>
            <a:off x="9212826" y="5102942"/>
            <a:ext cx="270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32832"/>
                </a:solidFill>
              </a:rPr>
              <a:t>Team :16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46C3FF-8F28-F1F8-1392-18C4255BA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824" y="1588588"/>
            <a:ext cx="4075393" cy="14914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21C790-A572-2731-FC6A-98E951543629}"/>
              </a:ext>
            </a:extLst>
          </p:cNvPr>
          <p:cNvSpPr txBox="1"/>
          <p:nvPr/>
        </p:nvSpPr>
        <p:spPr>
          <a:xfrm>
            <a:off x="8436077" y="5709877"/>
            <a:ext cx="2851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32832"/>
                </a:solidFill>
                <a:latin typeface="Aptos" panose="020B0004020202020204" pitchFamily="34" charset="0"/>
              </a:rPr>
              <a:t>Course</a:t>
            </a:r>
            <a:r>
              <a:rPr lang="en-US" dirty="0">
                <a:solidFill>
                  <a:srgbClr val="232832"/>
                </a:solidFill>
              </a:rPr>
              <a:t> code : 24ALT3101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373525-1BBF-5E13-9E69-D28E1519581F}"/>
              </a:ext>
            </a:extLst>
          </p:cNvPr>
          <p:cNvSpPr txBox="1"/>
          <p:nvPr/>
        </p:nvSpPr>
        <p:spPr>
          <a:xfrm>
            <a:off x="4712149" y="5149108"/>
            <a:ext cx="2526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Coordinator :  Dr. K. </a:t>
            </a:r>
            <a:r>
              <a:rPr lang="en-US" dirty="0" err="1"/>
              <a:t>Swanthana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67093"/>
            <a:ext cx="10149840" cy="4209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Employee attrition is a major challenge for organizations because it increases recruitment costs, reduces productivity and creates difficulties in retaining skilled employees.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Traditional machine learning systems generally predict whether an employee is likely to leave, but often provide limited transparency about the reason behind the prediction.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HR managers need a system that not only identifies employees at risk, but also explains the factors influencing that risk.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Our project proposes an Explainable AI framework to make attrition predictions transparent and actionable.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B090F-BD2F-3F73-3417-ACA399B3C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684" y="1780073"/>
            <a:ext cx="10149840" cy="3717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</a:t>
            </a:r>
            <a:r>
              <a:rPr lang="en-US" dirty="0">
                <a:solidFill>
                  <a:srgbClr val="232832"/>
                </a:solidFill>
              </a:rPr>
              <a:t>To </a:t>
            </a:r>
            <a:r>
              <a:rPr dirty="0">
                <a:solidFill>
                  <a:srgbClr val="232832"/>
                </a:solidFill>
              </a:rPr>
              <a:t>Develop a </a:t>
            </a:r>
            <a:r>
              <a:rPr lang="en-US" dirty="0">
                <a:solidFill>
                  <a:srgbClr val="232832"/>
                </a:solidFill>
              </a:rPr>
              <a:t>Framework, utilizing </a:t>
            </a:r>
            <a:r>
              <a:rPr dirty="0">
                <a:solidFill>
                  <a:srgbClr val="232832"/>
                </a:solidFill>
              </a:rPr>
              <a:t>machine learning model to predict whether an employee is likely to leave the organization.</a:t>
            </a:r>
            <a:endParaRPr lang="en-IN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lang="en-US" dirty="0">
                <a:solidFill>
                  <a:srgbClr val="232832"/>
                </a:solidFill>
              </a:rPr>
              <a:t>◆ </a:t>
            </a:r>
            <a:r>
              <a:rPr lang="en-IN" sz="1900" b="1" dirty="0">
                <a:solidFill>
                  <a:srgbClr val="232832"/>
                </a:solidFill>
              </a:rPr>
              <a:t>To improve</a:t>
            </a:r>
            <a:r>
              <a:rPr lang="en-IN" sz="1900" dirty="0">
                <a:solidFill>
                  <a:srgbClr val="232832"/>
                </a:solidFill>
              </a:rPr>
              <a:t> model generalizability by evaluating the framework using appropriate datasets and validation approaches.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lang="en-US" dirty="0">
                <a:solidFill>
                  <a:srgbClr val="232832"/>
                </a:solidFill>
              </a:rPr>
              <a:t>◆ </a:t>
            </a:r>
            <a:r>
              <a:rPr lang="en-IN" sz="1900" b="1" dirty="0">
                <a:solidFill>
                  <a:srgbClr val="232832"/>
                </a:solidFill>
              </a:rPr>
              <a:t>To integrate</a:t>
            </a:r>
            <a:r>
              <a:rPr lang="en-IN" sz="1900" dirty="0">
                <a:solidFill>
                  <a:srgbClr val="232832"/>
                </a:solidFill>
              </a:rPr>
              <a:t> Explainable AI techniques to provide transparent explanations for individual employee attrition predictions.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lang="en-US" dirty="0">
                <a:solidFill>
                  <a:srgbClr val="232832"/>
                </a:solidFill>
              </a:rPr>
              <a:t>◆ </a:t>
            </a:r>
            <a:r>
              <a:rPr lang="en-IN" sz="1900" b="1" dirty="0">
                <a:solidFill>
                  <a:srgbClr val="232832"/>
                </a:solidFill>
              </a:rPr>
              <a:t>To identify</a:t>
            </a:r>
            <a:r>
              <a:rPr lang="en-IN" sz="1900" dirty="0">
                <a:solidFill>
                  <a:srgbClr val="232832"/>
                </a:solidFill>
              </a:rPr>
              <a:t> the key factors contributing to employee attrition and provide actionable insights for reducing employee turnover.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lang="en-US" dirty="0">
                <a:solidFill>
                  <a:srgbClr val="232832"/>
                </a:solidFill>
              </a:rPr>
              <a:t>◆</a:t>
            </a:r>
            <a:r>
              <a:rPr lang="en-IN" sz="1900" b="1" dirty="0">
                <a:solidFill>
                  <a:srgbClr val="232832"/>
                </a:solidFill>
              </a:rPr>
              <a:t>To enhance</a:t>
            </a:r>
            <a:r>
              <a:rPr lang="en-IN" sz="1900" dirty="0">
                <a:solidFill>
                  <a:srgbClr val="232832"/>
                </a:solidFill>
              </a:rPr>
              <a:t> prediction reliability by addressing class imbalance and evaluating model performance using suitable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940BBA-FEFE-F934-F9AC-7C9D121B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1661F-A3EE-0C90-BE82-F8FDCF3C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99B569F-8187-AA03-6714-7680B294E1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616703"/>
              </p:ext>
            </p:extLst>
          </p:nvPr>
        </p:nvGraphicFramePr>
        <p:xfrm>
          <a:off x="550606" y="1241645"/>
          <a:ext cx="10146892" cy="5269729"/>
        </p:xfrm>
        <a:graphic>
          <a:graphicData uri="http://schemas.openxmlformats.org/drawingml/2006/table">
            <a:tbl>
              <a:tblPr/>
              <a:tblGrid>
                <a:gridCol w="2536723">
                  <a:extLst>
                    <a:ext uri="{9D8B030D-6E8A-4147-A177-3AD203B41FA5}">
                      <a16:colId xmlns:a16="http://schemas.microsoft.com/office/drawing/2014/main" val="3648693272"/>
                    </a:ext>
                  </a:extLst>
                </a:gridCol>
                <a:gridCol w="2536723">
                  <a:extLst>
                    <a:ext uri="{9D8B030D-6E8A-4147-A177-3AD203B41FA5}">
                      <a16:colId xmlns:a16="http://schemas.microsoft.com/office/drawing/2014/main" val="4048620343"/>
                    </a:ext>
                  </a:extLst>
                </a:gridCol>
                <a:gridCol w="2536723">
                  <a:extLst>
                    <a:ext uri="{9D8B030D-6E8A-4147-A177-3AD203B41FA5}">
                      <a16:colId xmlns:a16="http://schemas.microsoft.com/office/drawing/2014/main" val="814183791"/>
                    </a:ext>
                  </a:extLst>
                </a:gridCol>
                <a:gridCol w="2536723">
                  <a:extLst>
                    <a:ext uri="{9D8B030D-6E8A-4147-A177-3AD203B41FA5}">
                      <a16:colId xmlns:a16="http://schemas.microsoft.com/office/drawing/2014/main" val="3568626761"/>
                    </a:ext>
                  </a:extLst>
                </a:gridCol>
              </a:tblGrid>
              <a:tr h="252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Research Paper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Techniques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194784"/>
                  </a:ext>
                </a:extLst>
              </a:tr>
              <a:tr h="8415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IBM Employee Attrition Analysis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— Yang &amp; Islam (2020) (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  <a:hlinkClick r:id="rId3" tooltip="IBM Employee Attrition Analysi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arXiv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Correlation Matrix, Random Forest, K-Means Clustering, Logistic 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To identify the major factors influencing employee attrition and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analyze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why employees leave an organization.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Uses a single IBM dataset, so the findings may have limited generalizability to other organizations.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575652"/>
                  </a:ext>
                </a:extLst>
              </a:tr>
              <a:tr h="99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Predict Employee Attrition Using Multiple Machine Learning Techniques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— Ghanem &amp; Al-Alawi (2024) (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hlinkClick r:id="rId4" tooltip="Predict Employee Attrition Using Multiple Machine Learning Technique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Random Forest,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XGBoost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, Decision Tree, Bernoulli Naive Bayes, KNN, SVM, Logistic Regression, Oversampling, </a:t>
                      </a:r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GridSearchCV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To compare multiple ML algorithms and identify the most effective model for employee attrition prediction.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Dataset has class imbalance and the results may not generalize well to other organizations; more datasets are needed.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373033"/>
                  </a:ext>
                </a:extLst>
              </a:tr>
              <a:tr h="99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Employee Attrition Prediction using Machine Learning: A Data-Driven Approach for Workforce Analytics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 (2025) (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  <a:hlinkClick r:id="rId5" tooltip="Employee Attrition Prediction using Machine Learning: A Data-Driven Approach for Workforce Analytic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</a:t>
                      </a: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Logistic Regression, Gradient Boosting, Random Forest, SVM, Gaussian Naive Bayes, Feature Engineering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To predict employee attrition and identify important employee characteristics that can help HR managers develop retention strategies.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The study is primarily focused on prediction and model comparison; broader real-world validation is still needed.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63683"/>
                  </a:ext>
                </a:extLst>
              </a:tr>
              <a:tr h="1147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A Stacking Ensemble Framework for Predicting Employee Turnover: Explainable AI with SHAP</a:t>
                      </a: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 — Rahman et al. (2025/2026 publication record) (</a:t>
                      </a:r>
                      <a:r>
                        <a:rPr lang="en-IN" sz="1200">
                          <a:solidFill>
                            <a:schemeClr val="tx1"/>
                          </a:solidFill>
                          <a:hlinkClick r:id="rId6" tooltip="A Stacking Ensemble Framework for Predicting Employee Turnover: Explainable AI with SHAP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EurekaMag</a:t>
                      </a: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Machine Learning, Ensemble Learning, Deep Learning, Stacking, SHAP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To predict employee turnover using ensemble approaches and explain the model's predictions using SHAP.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Relies on the IBM HR Analytics dataset, which limits generalizability to different organizations and workforce environments.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0381554"/>
                  </a:ext>
                </a:extLst>
              </a:tr>
              <a:tr h="99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Integrating Machine Learning and Explainable AI for Employee Attrition Prediction in HR Analytics</a:t>
                      </a: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 (2026) (</a:t>
                      </a:r>
                      <a:r>
                        <a:rPr lang="en-IN" sz="1200">
                          <a:solidFill>
                            <a:schemeClr val="tx1"/>
                          </a:solidFill>
                          <a:hlinkClick r:id="rId7" tooltip="Integrating machine learning and explainable AI for employee attrition prediction in HR analytics | Scientific Reports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DOI</a:t>
                      </a: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Machine Learning, SHAP, Feature Selection, Data Balancing, Hyperparameter Optimization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solidFill>
                            <a:schemeClr val="tx1"/>
                          </a:solidFill>
                        </a:rPr>
                        <a:t>To combine accurate attrition prediction with explainable AI so HR teams can understand the factors behind predictions.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Synthetic datasets such as IBM HR Analytics may not represent real-world organizations; SHAP may not fully capture complex feature interactions.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184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163BC1-2B34-442B-D0CE-8707C7B1D1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24450"/>
              </p:ext>
            </p:extLst>
          </p:nvPr>
        </p:nvGraphicFramePr>
        <p:xfrm>
          <a:off x="540774" y="363795"/>
          <a:ext cx="10284540" cy="6030339"/>
        </p:xfrm>
        <a:graphic>
          <a:graphicData uri="http://schemas.openxmlformats.org/drawingml/2006/table">
            <a:tbl>
              <a:tblPr/>
              <a:tblGrid>
                <a:gridCol w="2571135">
                  <a:extLst>
                    <a:ext uri="{9D8B030D-6E8A-4147-A177-3AD203B41FA5}">
                      <a16:colId xmlns:a16="http://schemas.microsoft.com/office/drawing/2014/main" val="1727998798"/>
                    </a:ext>
                  </a:extLst>
                </a:gridCol>
                <a:gridCol w="2571135">
                  <a:extLst>
                    <a:ext uri="{9D8B030D-6E8A-4147-A177-3AD203B41FA5}">
                      <a16:colId xmlns:a16="http://schemas.microsoft.com/office/drawing/2014/main" val="1060750495"/>
                    </a:ext>
                  </a:extLst>
                </a:gridCol>
                <a:gridCol w="2571135">
                  <a:extLst>
                    <a:ext uri="{9D8B030D-6E8A-4147-A177-3AD203B41FA5}">
                      <a16:colId xmlns:a16="http://schemas.microsoft.com/office/drawing/2014/main" val="3228570853"/>
                    </a:ext>
                  </a:extLst>
                </a:gridCol>
                <a:gridCol w="2571135">
                  <a:extLst>
                    <a:ext uri="{9D8B030D-6E8A-4147-A177-3AD203B41FA5}">
                      <a16:colId xmlns:a16="http://schemas.microsoft.com/office/drawing/2014/main" val="2878134543"/>
                    </a:ext>
                  </a:extLst>
                </a:gridCol>
              </a:tblGrid>
              <a:tr h="2751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Research Paper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Techniques Used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Purpose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Limitation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635953"/>
                  </a:ext>
                </a:extLst>
              </a:tr>
              <a:tr h="1271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Employee Attrition Prediction Using Bayesian Optimized Stacked Ensemble Learning and Explainable AI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Konar et al., 2025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Stacking, </a:t>
                      </a:r>
                      <a:r>
                        <a:rPr lang="en-IN" sz="1100" dirty="0" err="1">
                          <a:solidFill>
                            <a:srgbClr val="232832"/>
                          </a:solidFill>
                        </a:rPr>
                        <a:t>XGBoost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, Random Forest, Bayesian Optimization, SHAP, LIME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improve attrition prediction and explain why employees are predicted to leave.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Mainly evaluated on benchmark data; broader organizational validation is still needed.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2" tooltip="Employee Attrition Prediction Using Bayesian Optimized Stacked Ensemble Learning and Explainable AI | SN Computer Science | Springer Nature Link"/>
                        </a:rPr>
                        <a:t>Springer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385951"/>
                  </a:ext>
                </a:extLst>
              </a:tr>
              <a:tr h="1070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Integrating Machine Learning and Explainable AI for Employee Attrition Prediction in HR Analytics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Al-Ali et al., 2026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Adaptive Boosting, Histogram Gradient Boosting, SHAP, feature selection, data balancing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To combine accurate attrition prediction with explainability, fairness and actionable HR insights.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Existing HR datasets may not fully represent different real-world organizations. (</a:t>
                      </a:r>
                      <a:r>
                        <a:rPr lang="en-IN" sz="1100">
                          <a:solidFill>
                            <a:srgbClr val="232832"/>
                          </a:solidFill>
                          <a:hlinkClick r:id="rId3" tooltip="Integrating machine learning and explainable AI for employee attrition prediction in HR analytics - PMC"/>
                        </a:rPr>
                        <a:t>PubMed Central (PMC)</a:t>
                      </a: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701738"/>
                  </a:ext>
                </a:extLst>
              </a:tr>
              <a:tr h="12714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Explainable AI for Employee Turnover Prediction: A SHAP-Based Intelligent Analytics Approach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Haojie Jia, 2026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solidFill>
                            <a:srgbClr val="232832"/>
                          </a:solidFill>
                        </a:rPr>
                        <a:t>XGBoost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, Random Forest, </a:t>
                      </a:r>
                      <a:r>
                        <a:rPr lang="en-IN" sz="1100" dirty="0" err="1">
                          <a:solidFill>
                            <a:srgbClr val="232832"/>
                          </a:solidFill>
                        </a:rPr>
                        <a:t>LightGBM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, Logistic Regression, SHAP, SMOTE, fairness audit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To provide global, local and interaction-based explanations for employee turnover predictions.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Feature importance and subgroup effects can vary between datasets, requiring validation for each deployment.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4" tooltip="Explainable AI for employee turnover prediction: a SHAP-based intelligent analytics approach | Scientific Reports"/>
                        </a:rPr>
                        <a:t>Nature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888878"/>
                  </a:ext>
                </a:extLst>
              </a:tr>
              <a:tr h="1070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rgbClr val="232832"/>
                          </a:solidFill>
                        </a:rPr>
                        <a:t>Predicting Employee Attrition: XAI-Powered Models for Managerial Decision-Making</a:t>
                      </a: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 — 2025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Transformer, GAN-based oversampling, SHAP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handle class imbalance and provide transparent attrition predictions for HR managers.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Authors identify the need for validation across more industries and lightweight real-time implementation.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5" tooltip="Predicting Employee Attrition: XAI-Powered Models for Managerial Decision-Making"/>
                        </a:rPr>
                        <a:t>MDPI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107951"/>
                  </a:ext>
                </a:extLst>
              </a:tr>
              <a:tr h="1070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>
                          <a:solidFill>
                            <a:srgbClr val="232832"/>
                          </a:solidFill>
                        </a:rPr>
                        <a:t>Employee Attrition Prediction: An Explanatory and Statistically Robust Ensemble Learning Model</a:t>
                      </a: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 — 2026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SHAP, LIME, Optuna, Random Oversampling, Ensemble Learning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combine accurate prediction with global and local explanations and identify important retention factors.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Uses benchmark datasets, so real-world organizational validation remains important.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6" tooltip="Employee Attrition Prediction: An Explanatory and Statistically Robust Ensemble Learning Model"/>
                        </a:rPr>
                        <a:t>MDPI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3926015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3D3A68B-56D2-6E42-7633-53AFAA3FC3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8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Research Gap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545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Limited Generalizability: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Most studies rely heavily on the IBM HR Analytics dataset, making it difficult to confirm whether the models perform effectively across different organizations and workforce environments.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Limited Explainability: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Several existing approaches focus primarily on prediction accuracy and model comparison, without providing sufficient explanations for individual employee predictions.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Lack of Actionable Insights: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Existing models mainly identify employees who are likely to leave but provide limited guidance on </a:t>
            </a: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which factors should be addressed to reduce attrition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Class Imbalance Challenge: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Employee attrition datasets often contain significantly fewer employees who leave compared with those who stay, which can affect prediction performance.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rgbClr val="232832"/>
                </a:solidFill>
                <a:latin typeface="Aptos" panose="020B0004020202020204" pitchFamily="34" charset="0"/>
              </a:rPr>
              <a:t>Limited Real-World Validation:</a:t>
            </a:r>
            <a:r>
              <a:rPr lang="en-IN" dirty="0">
                <a:solidFill>
                  <a:srgbClr val="232832"/>
                </a:solidFill>
                <a:latin typeface="Aptos" panose="020B0004020202020204" pitchFamily="34" charset="0"/>
              </a:rPr>
              <a:t> Many approaches are evaluated on benchmark or synthetic datasets rather than validated using diverse real-world organizational data.</a:t>
            </a:r>
          </a:p>
          <a:p>
            <a:pPr marL="342900" indent="-342900" algn="just">
              <a:lnSpc>
                <a:spcPct val="105000"/>
              </a:lnSpc>
              <a:spcAft>
                <a:spcPts val="1100"/>
              </a:spcAft>
              <a:buFont typeface="Arial" panose="020B0604020202020204" pitchFamily="34" charset="0"/>
              <a:buChar char="•"/>
              <a:defRPr sz="1900">
                <a:solidFill>
                  <a:srgbClr val="F5F8FC"/>
                </a:solidFill>
                <a:latin typeface="Aptos"/>
              </a:defRPr>
            </a:pPr>
            <a:endParaRPr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BD88B-259C-97ED-6382-3468D18F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Innovation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3971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Integrates machine learning-based attrition prediction with Explainable AI.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Provides understandable explanations for individual employee risk predictions.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Identifies important employee attributes contributing to the predicted outcome.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Supports aggregate analysis to identify departments with high attrition rates.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Can reveal recurring causes, workforce trends and areas requiring management attention.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8058DC-1846-3054-F244-B38E6E68A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Creativity &amp;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3996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Creativity: Converts complex machine learning decisions into information that can be understood by HR personnel.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Novelty: Combines individual prediction, prediction confidence and explainability within one framework.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Uses multiple possible explanation approaches such as SHAP, LIME, feature importance and permutation importance.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Extends the analysis from individual employees to department-level workforce patterns.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Focuses on producing actionable insights rather than only a binary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07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8DE4F-E3EC-1977-10F0-4F245B83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Technical feasibility: The project uses established supervised machine learning and Explainable AI techniques.</a:t>
            </a:r>
            <a:endParaRPr lang="en-US"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endParaRPr dirty="0"/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Data feasibility: The IBM HR Analytics Employee Attrition dataset is identified as a benchmark dataset in the project.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8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Implementation feasibility: Data preprocessing, model training, evaluation and visualization can be implemented using Python-based tools.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Evaluation feasibility: Accuracy, precision, recall, F1-score, ROC-AUC and confusion matrix can be used for model evaluation.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rgbClr val="232832"/>
                </a:solidFill>
              </a:rPr>
              <a:t>◆  Project scope is suitable for an academic implementation and can be extended with a dashboard or interface.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08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16FC8-19C2-BE2C-20ED-3E10695A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Project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1 — Literature survey &amp; requirements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2 — Dataset collection &amp; preprocessing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3 — EDA &amp; feature engineering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4 — ML model development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5 — Explainable AI integration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6 — Model evaluation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7 — Interface/dashboard development</a:t>
            </a:r>
          </a:p>
          <a:p>
            <a:pPr>
              <a:lnSpc>
                <a:spcPct val="105000"/>
              </a:lnSpc>
              <a:spcAft>
                <a:spcPts val="1100"/>
              </a:spcAft>
              <a:defRPr sz="1900">
                <a:solidFill>
                  <a:srgbClr val="F5F8FC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◆  Phase 8 — Testing, documentation &amp;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64518E-E70A-10D7-1A5F-71287798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36794" y="2291506"/>
            <a:ext cx="51918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US" dirty="0" err="1">
                <a:solidFill>
                  <a:srgbClr val="232832"/>
                </a:solidFill>
              </a:rPr>
              <a:t>ThankYOU</a:t>
            </a:r>
            <a:endParaRPr lang="en-US" dirty="0"/>
          </a:p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rPr>
                <a:solidFill>
                  <a:srgbClr val="232832"/>
                </a:solidFill>
              </a:rPr>
              <a:t>15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E3A95-6E75-FB8F-9C9F-89E5A84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143</TotalTime>
  <Words>1322</Words>
  <Application>Microsoft Office PowerPoint</Application>
  <PresentationFormat>Widescreen</PresentationFormat>
  <Paragraphs>127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Haettenschweiler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nishanthgeriganti@outlook.com</cp:lastModifiedBy>
  <cp:revision>13</cp:revision>
  <dcterms:created xsi:type="dcterms:W3CDTF">2013-01-27T09:14:16Z</dcterms:created>
  <dcterms:modified xsi:type="dcterms:W3CDTF">2026-08-14T08:45:54Z</dcterms:modified>
  <cp:category/>
</cp:coreProperties>
</file>