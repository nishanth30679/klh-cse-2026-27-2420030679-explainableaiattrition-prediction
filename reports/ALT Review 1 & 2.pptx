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6" r:id="rId11"/>
    <p:sldId id="270" r:id="rId12"/>
    <p:sldId id="285" r:id="rId13"/>
    <p:sldId id="284" r:id="rId14"/>
    <p:sldId id="278" r:id="rId15"/>
    <p:sldId id="277" r:id="rId16"/>
    <p:sldId id="282" r:id="rId17"/>
    <p:sldId id="281" r:id="rId18"/>
    <p:sldId id="280" r:id="rId19"/>
    <p:sldId id="291" r:id="rId20"/>
    <p:sldId id="290" r:id="rId21"/>
    <p:sldId id="292" r:id="rId22"/>
    <p:sldId id="289" r:id="rId23"/>
    <p:sldId id="279" r:id="rId24"/>
    <p:sldId id="283" r:id="rId25"/>
    <p:sldId id="288" r:id="rId26"/>
    <p:sldId id="287" r:id="rId27"/>
    <p:sldId id="286" r:id="rId28"/>
    <p:sldId id="276" r:id="rId29"/>
    <p:sldId id="27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733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62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391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473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51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100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615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4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64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430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73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563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774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819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234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47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431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268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521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155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287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4390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27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5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109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72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42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2.01286?utm_source=chatgpt.com" TargetMode="External"/><Relationship Id="rId7" Type="http://schemas.openxmlformats.org/officeDocument/2006/relationships/hyperlink" Target="https://doi.org/10.1038/s41598-026-36424-2?utm_source=chatgpt.co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eurekamag.com/research/105/316/105316232.php?utm_source=chatgpt.com" TargetMode="External"/><Relationship Id="rId5" Type="http://schemas.openxmlformats.org/officeDocument/2006/relationships/hyperlink" Target="https://doi.org/10.1109/icssas66150.2025.11080889?utm_source=chatgpt.com" TargetMode="External"/><Relationship Id="rId4" Type="http://schemas.openxmlformats.org/officeDocument/2006/relationships/hyperlink" Target="https://doi.org/10.1109/OIDT59407.2024.11082709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2905426/?utm_source=chatgpt.com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link.springer.com/article/10.1007/s42979-025-04204-w?utm_source=chatgpt.com" TargetMode="Externa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www.mdpi.com/2073-431X/15/3/185?utm_source=chatgpt.com" TargetMode="External"/><Relationship Id="rId5" Type="http://schemas.openxmlformats.org/officeDocument/2006/relationships/hyperlink" Target="https://www.mdpi.com/2079-8954/13/7/583/html?utm_source=chatgpt.com" TargetMode="External"/><Relationship Id="rId4" Type="http://schemas.openxmlformats.org/officeDocument/2006/relationships/hyperlink" Target="https://www.nature.com/articles/s41598-026-60901-3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281" y="462717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 Display"/>
              </a:defRPr>
            </a:pPr>
            <a:r>
              <a:rPr sz="3200" dirty="0">
                <a:solidFill>
                  <a:srgbClr val="232832"/>
                </a:solidFill>
              </a:rPr>
              <a:t>Explainable AI Framework for Employee Attrition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6212" y="3931697"/>
            <a:ext cx="3238900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2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Project </a:t>
            </a:r>
            <a:r>
              <a:rPr lang="en-US" dirty="0">
                <a:solidFill>
                  <a:srgbClr val="232832"/>
                </a:solidFill>
              </a:rPr>
              <a:t>Team</a:t>
            </a:r>
            <a:endParaRPr dirty="0"/>
          </a:p>
          <a:p>
            <a:pPr algn="ctr">
              <a:spcAft>
                <a:spcPts val="18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rPr lang="en-IN" dirty="0">
                <a:solidFill>
                  <a:srgbClr val="232832"/>
                </a:solidFill>
              </a:rPr>
              <a:t> Mahith 2420090095</a:t>
            </a:r>
            <a:endParaRPr lang="en-US" dirty="0"/>
          </a:p>
          <a:p>
            <a:pPr algn="ctr">
              <a:spcAft>
                <a:spcPts val="18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Ch. Charan Teja  </a:t>
            </a:r>
            <a:r>
              <a:rPr lang="en-US" dirty="0">
                <a:solidFill>
                  <a:srgbClr val="232832"/>
                </a:solidFill>
              </a:rPr>
              <a:t>2420090022</a:t>
            </a:r>
          </a:p>
          <a:p>
            <a:pPr algn="ctr">
              <a:spcAft>
                <a:spcPts val="18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G. Nishanth  </a:t>
            </a:r>
            <a:r>
              <a:rPr lang="en-US" dirty="0">
                <a:solidFill>
                  <a:srgbClr val="232832"/>
                </a:solidFill>
              </a:rPr>
              <a:t>2420030679</a:t>
            </a:r>
          </a:p>
          <a:p>
            <a:pPr algn="ctr">
              <a:spcAft>
                <a:spcPts val="18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 Moksha  </a:t>
            </a:r>
            <a:r>
              <a:rPr lang="en-US" dirty="0">
                <a:solidFill>
                  <a:srgbClr val="232832"/>
                </a:solidFill>
              </a:rPr>
              <a:t>2400090182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9535A-46B3-2C64-61A2-E7E4E6C4B196}"/>
              </a:ext>
            </a:extLst>
          </p:cNvPr>
          <p:cNvSpPr txBox="1"/>
          <p:nvPr/>
        </p:nvSpPr>
        <p:spPr>
          <a:xfrm>
            <a:off x="9212826" y="5102942"/>
            <a:ext cx="270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32832"/>
                </a:solidFill>
              </a:rPr>
              <a:t>Team :16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46C3FF-8F28-F1F8-1392-18C4255BA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824" y="1588588"/>
            <a:ext cx="4075393" cy="1491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21C790-A572-2731-FC6A-98E951543629}"/>
              </a:ext>
            </a:extLst>
          </p:cNvPr>
          <p:cNvSpPr txBox="1"/>
          <p:nvPr/>
        </p:nvSpPr>
        <p:spPr>
          <a:xfrm>
            <a:off x="8436077" y="5709877"/>
            <a:ext cx="2851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32832"/>
                </a:solidFill>
                <a:latin typeface="Aptos" panose="020B0004020202020204" pitchFamily="34" charset="0"/>
              </a:rPr>
              <a:t>Course</a:t>
            </a:r>
            <a:r>
              <a:rPr lang="en-US" dirty="0">
                <a:solidFill>
                  <a:srgbClr val="232832"/>
                </a:solidFill>
              </a:rPr>
              <a:t> code : 24ALT3101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73525-1BBF-5E13-9E69-D28E1519581F}"/>
              </a:ext>
            </a:extLst>
          </p:cNvPr>
          <p:cNvSpPr txBox="1"/>
          <p:nvPr/>
        </p:nvSpPr>
        <p:spPr>
          <a:xfrm>
            <a:off x="4712149" y="5149108"/>
            <a:ext cx="2526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 Coordinator :  Dr. K. </a:t>
            </a:r>
            <a:r>
              <a:rPr lang="en-US" dirty="0" err="1"/>
              <a:t>Swanthana</a:t>
            </a:r>
            <a:r>
              <a:rPr lang="en-US" dirty="0"/>
              <a:t> mam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dirty="0">
                <a:solidFill>
                  <a:srgbClr val="232832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67093"/>
            <a:ext cx="10149840" cy="4209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Employee attrition is a major challenge for organizations because it increases recruitment costs, reduces productivity and creates difficulties in retaining skilled employees.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Traditional machine learning systems generally predict whether an employee is likely to leave, but often provide limited transparency about the reason behind the prediction.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HR managers need a system that not only identifies employees at risk, but also explains the factors influencing that risk.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Our project proposes an Explainable AI framework to make attrition predictions transparent and actionable.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B090F-BD2F-3F73-3417-ACA399B3C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684" y="1780073"/>
            <a:ext cx="10149840" cy="371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</a:t>
            </a:r>
            <a:r>
              <a:rPr lang="en-US" b="1" dirty="0">
                <a:solidFill>
                  <a:srgbClr val="232832"/>
                </a:solidFill>
              </a:rPr>
              <a:t>To </a:t>
            </a:r>
            <a:r>
              <a:rPr b="1" dirty="0">
                <a:solidFill>
                  <a:srgbClr val="232832"/>
                </a:solidFill>
              </a:rPr>
              <a:t>Develop </a:t>
            </a:r>
            <a:r>
              <a:rPr dirty="0">
                <a:solidFill>
                  <a:srgbClr val="232832"/>
                </a:solidFill>
              </a:rPr>
              <a:t>a </a:t>
            </a:r>
            <a:r>
              <a:rPr lang="en-US" dirty="0">
                <a:solidFill>
                  <a:srgbClr val="232832"/>
                </a:solidFill>
              </a:rPr>
              <a:t>Framework, utilizing </a:t>
            </a:r>
            <a:r>
              <a:rPr dirty="0">
                <a:solidFill>
                  <a:srgbClr val="232832"/>
                </a:solidFill>
              </a:rPr>
              <a:t>machine learning model to predict whether an employee is likely to leave the organization.</a:t>
            </a:r>
            <a:endParaRPr lang="en-IN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lang="en-US" dirty="0">
                <a:solidFill>
                  <a:srgbClr val="232832"/>
                </a:solidFill>
              </a:rPr>
              <a:t>◆ </a:t>
            </a:r>
            <a:r>
              <a:rPr lang="en-IN" sz="1900" b="1" dirty="0">
                <a:solidFill>
                  <a:srgbClr val="232832"/>
                </a:solidFill>
              </a:rPr>
              <a:t>To improve</a:t>
            </a:r>
            <a:r>
              <a:rPr lang="en-IN" sz="1900" dirty="0">
                <a:solidFill>
                  <a:srgbClr val="232832"/>
                </a:solidFill>
              </a:rPr>
              <a:t> model generalizability by evaluating the framework using appropriate datasets and validation approaches.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lang="en-US" dirty="0">
                <a:solidFill>
                  <a:srgbClr val="232832"/>
                </a:solidFill>
              </a:rPr>
              <a:t>◆ </a:t>
            </a:r>
            <a:r>
              <a:rPr lang="en-IN" sz="1900" b="1" dirty="0">
                <a:solidFill>
                  <a:srgbClr val="232832"/>
                </a:solidFill>
              </a:rPr>
              <a:t>To integrate</a:t>
            </a:r>
            <a:r>
              <a:rPr lang="en-IN" sz="1900" dirty="0">
                <a:solidFill>
                  <a:srgbClr val="232832"/>
                </a:solidFill>
              </a:rPr>
              <a:t> Explainable AI techniques to provide transparent explanations for individual employee attrition predictions.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lang="en-US" dirty="0">
                <a:solidFill>
                  <a:srgbClr val="232832"/>
                </a:solidFill>
              </a:rPr>
              <a:t>◆ </a:t>
            </a:r>
            <a:r>
              <a:rPr lang="en-IN" sz="1900" b="1" dirty="0">
                <a:solidFill>
                  <a:srgbClr val="232832"/>
                </a:solidFill>
              </a:rPr>
              <a:t>To identify</a:t>
            </a:r>
            <a:r>
              <a:rPr lang="en-IN" sz="1900" dirty="0">
                <a:solidFill>
                  <a:srgbClr val="232832"/>
                </a:solidFill>
              </a:rPr>
              <a:t> the key factors contributing to employee attrition and provide actionable insights for reducing employee turnover.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lang="en-US" dirty="0">
                <a:solidFill>
                  <a:srgbClr val="232832"/>
                </a:solidFill>
              </a:rPr>
              <a:t>◆</a:t>
            </a:r>
            <a:r>
              <a:rPr lang="en-IN" sz="1900" b="1" dirty="0">
                <a:solidFill>
                  <a:srgbClr val="232832"/>
                </a:solidFill>
              </a:rPr>
              <a:t>To enhance</a:t>
            </a:r>
            <a:r>
              <a:rPr lang="en-IN" sz="1900" dirty="0">
                <a:solidFill>
                  <a:srgbClr val="232832"/>
                </a:solidFill>
              </a:rPr>
              <a:t> prediction reliability by addressing class imbalance and evaluating model performance using suitable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940BBA-FEFE-F934-F9AC-7C9D121B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dirty="0">
                <a:solidFill>
                  <a:srgbClr val="232832"/>
                </a:solidFill>
              </a:rPr>
              <a:t>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1661F-A3EE-0C90-BE82-F8FDCF3C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99B569F-8187-AA03-6714-7680B294E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16703"/>
              </p:ext>
            </p:extLst>
          </p:nvPr>
        </p:nvGraphicFramePr>
        <p:xfrm>
          <a:off x="550606" y="1241645"/>
          <a:ext cx="10146892" cy="5269729"/>
        </p:xfrm>
        <a:graphic>
          <a:graphicData uri="http://schemas.openxmlformats.org/drawingml/2006/table">
            <a:tbl>
              <a:tblPr/>
              <a:tblGrid>
                <a:gridCol w="2536723">
                  <a:extLst>
                    <a:ext uri="{9D8B030D-6E8A-4147-A177-3AD203B41FA5}">
                      <a16:colId xmlns:a16="http://schemas.microsoft.com/office/drawing/2014/main" val="3648693272"/>
                    </a:ext>
                  </a:extLst>
                </a:gridCol>
                <a:gridCol w="2536723">
                  <a:extLst>
                    <a:ext uri="{9D8B030D-6E8A-4147-A177-3AD203B41FA5}">
                      <a16:colId xmlns:a16="http://schemas.microsoft.com/office/drawing/2014/main" val="4048620343"/>
                    </a:ext>
                  </a:extLst>
                </a:gridCol>
                <a:gridCol w="2536723">
                  <a:extLst>
                    <a:ext uri="{9D8B030D-6E8A-4147-A177-3AD203B41FA5}">
                      <a16:colId xmlns:a16="http://schemas.microsoft.com/office/drawing/2014/main" val="814183791"/>
                    </a:ext>
                  </a:extLst>
                </a:gridCol>
                <a:gridCol w="2536723">
                  <a:extLst>
                    <a:ext uri="{9D8B030D-6E8A-4147-A177-3AD203B41FA5}">
                      <a16:colId xmlns:a16="http://schemas.microsoft.com/office/drawing/2014/main" val="3568626761"/>
                    </a:ext>
                  </a:extLst>
                </a:gridCol>
              </a:tblGrid>
              <a:tr h="252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Research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Techniques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194784"/>
                  </a:ext>
                </a:extLst>
              </a:tr>
              <a:tr h="841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IBM Employee Attrition Analysis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— Yang &amp; Islam (2020) (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  <a:hlinkClick r:id="rId3" tooltip="IBM Employee Attrition Analysi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arXiv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Correlation Matrix, Random Forest, K-Means Clustering, 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To identify the major factors influencing employee attrition and 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</a:rPr>
                        <a:t>analyze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why employees leave an organization.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Uses a single IBM dataset, so the findings may have limited generalizability to other organizations.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575652"/>
                  </a:ext>
                </a:extLst>
              </a:tr>
              <a:tr h="994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Predict Employee Attrition Using Multiple Machine Learning Techniques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— Ghanem &amp; Al-Alawi (2024) (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hlinkClick r:id="rId4" tooltip="Predict Employee Attrition Using Multiple Machine Learning Technique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Random Forest, 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</a:rPr>
                        <a:t>XGBoost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, Decision Tree, Bernoulli Naive Bayes, KNN, SVM, Logistic Regression, Oversampling, 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</a:rPr>
                        <a:t>GridSearchCV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To compare multiple ML algorithms and identify the most effective model for employee attrition prediction.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Dataset has class imbalance and the results may not generalize well to other organizations; more datasets are needed.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373033"/>
                  </a:ext>
                </a:extLst>
              </a:tr>
              <a:tr h="994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Employee Attrition Prediction using Machine Learning: A Data-Driven Approach for Workforce Analytics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(2025) (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hlinkClick r:id="rId5" tooltip="Employee Attrition Prediction using Machine Learning: A Data-Driven Approach for Workforce Analytic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Logistic Regression, Gradient Boosting, Random Forest, SVM, Gaussian Naive Bayes, Feature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To predict employee attrition and identify important employee characteristics that can help HR managers develop retention strategies.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The study is primarily focused on prediction and model comparison; broader real-world validation is still needed.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63683"/>
                  </a:ext>
                </a:extLst>
              </a:tr>
              <a:tr h="1147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</a:rPr>
                        <a:t>A Stacking Ensemble Framework for Predicting Employee Turnover: Explainable AI with SHAP</a:t>
                      </a: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 — Rahman et al. (2025/2026 publication record) (</a:t>
                      </a:r>
                      <a:r>
                        <a:rPr lang="en-IN" sz="1200">
                          <a:solidFill>
                            <a:schemeClr val="tx1"/>
                          </a:solidFill>
                          <a:hlinkClick r:id="rId6" tooltip="A Stacking Ensemble Framework for Predicting Employee Turnover: Explainable AI with SHA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EurekaMag</a:t>
                      </a: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Machine Learning, Ensemble Learning, Deep Learning, Stacking, SHAP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To predict employee turnover using ensemble approaches and explain the model's predictions using SHAP.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Relies on the IBM HR Analytics dataset, which limits generalizability to different organizations and workforce environments.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381554"/>
                  </a:ext>
                </a:extLst>
              </a:tr>
              <a:tr h="994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</a:rPr>
                        <a:t>Integrating Machine Learning and Explainable AI for Employee Attrition Prediction in HR Analytics</a:t>
                      </a: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 (2026) (</a:t>
                      </a:r>
                      <a:r>
                        <a:rPr lang="en-IN" sz="1200">
                          <a:solidFill>
                            <a:schemeClr val="tx1"/>
                          </a:solidFill>
                          <a:hlinkClick r:id="rId7" tooltip="Integrating machine learning and explainable AI for employee attrition prediction in HR analytics | Scientific Report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</a:t>
                      </a: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Machine Learning, SHAP, Feature Selection, Data Balancing, Hyperparameter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To combine accurate attrition prediction with explainable AI so HR teams can understand the factors behind predictions.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Synthetic datasets such as IBM HR Analytics may not represent real-world organizations; SHAP may not fully capture complex feature interactions.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184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163BC1-2B34-442B-D0CE-8707C7B1D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24450"/>
              </p:ext>
            </p:extLst>
          </p:nvPr>
        </p:nvGraphicFramePr>
        <p:xfrm>
          <a:off x="540774" y="363795"/>
          <a:ext cx="10284540" cy="6030339"/>
        </p:xfrm>
        <a:graphic>
          <a:graphicData uri="http://schemas.openxmlformats.org/drawingml/2006/table">
            <a:tbl>
              <a:tblPr/>
              <a:tblGrid>
                <a:gridCol w="2571135">
                  <a:extLst>
                    <a:ext uri="{9D8B030D-6E8A-4147-A177-3AD203B41FA5}">
                      <a16:colId xmlns:a16="http://schemas.microsoft.com/office/drawing/2014/main" val="1727998798"/>
                    </a:ext>
                  </a:extLst>
                </a:gridCol>
                <a:gridCol w="2571135">
                  <a:extLst>
                    <a:ext uri="{9D8B030D-6E8A-4147-A177-3AD203B41FA5}">
                      <a16:colId xmlns:a16="http://schemas.microsoft.com/office/drawing/2014/main" val="1060750495"/>
                    </a:ext>
                  </a:extLst>
                </a:gridCol>
                <a:gridCol w="2571135">
                  <a:extLst>
                    <a:ext uri="{9D8B030D-6E8A-4147-A177-3AD203B41FA5}">
                      <a16:colId xmlns:a16="http://schemas.microsoft.com/office/drawing/2014/main" val="3228570853"/>
                    </a:ext>
                  </a:extLst>
                </a:gridCol>
                <a:gridCol w="2571135">
                  <a:extLst>
                    <a:ext uri="{9D8B030D-6E8A-4147-A177-3AD203B41FA5}">
                      <a16:colId xmlns:a16="http://schemas.microsoft.com/office/drawing/2014/main" val="2878134543"/>
                    </a:ext>
                  </a:extLst>
                </a:gridCol>
              </a:tblGrid>
              <a:tr h="275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Research Paper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Techniques Used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Purpose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Limitation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635953"/>
                  </a:ext>
                </a:extLst>
              </a:tr>
              <a:tr h="1271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232832"/>
                          </a:solidFill>
                        </a:rPr>
                        <a:t>Employee Attrition Prediction Using Bayesian Optimized Stacked Ensemble Learning and Explainable AI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 — Konar et al., 2025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Stacking, </a:t>
                      </a:r>
                      <a:r>
                        <a:rPr lang="en-IN" sz="1100" dirty="0" err="1">
                          <a:solidFill>
                            <a:srgbClr val="232832"/>
                          </a:solidFill>
                        </a:rPr>
                        <a:t>XGBoost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, Random Forest, Bayesian Optimization, SHAP, LIME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To improve attrition prediction and explain why employees are predicted to leave.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Mainly evaluated on benchmark data; broader organizational validation is still needed.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2" tooltip="Employee Attrition Prediction Using Bayesian Optimized Stacked Ensemble Learning and Explainable AI | SN Computer Science | Springer Nature Link"/>
                        </a:rPr>
                        <a:t>Springer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385951"/>
                  </a:ext>
                </a:extLst>
              </a:tr>
              <a:tr h="1070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232832"/>
                          </a:solidFill>
                        </a:rPr>
                        <a:t>Integrating Machine Learning and Explainable AI for Employee Attrition Prediction in HR Analytics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 — Al-Ali et al., 2026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Adaptive Boosting, Histogram Gradient Boosting, SHAP, feature selection, data balancing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To combine accurate attrition prediction with explainability, fairness and actionable HR insights.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Existing HR datasets may not fully represent different real-world organizations. (</a:t>
                      </a:r>
                      <a:r>
                        <a:rPr lang="en-IN" sz="1100">
                          <a:solidFill>
                            <a:srgbClr val="232832"/>
                          </a:solidFill>
                          <a:hlinkClick r:id="rId3" tooltip="Integrating machine learning and explainable AI for employee attrition prediction in HR analytics - PMC"/>
                        </a:rPr>
                        <a:t>PubMed Central (PMC)</a:t>
                      </a: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701738"/>
                  </a:ext>
                </a:extLst>
              </a:tr>
              <a:tr h="1271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232832"/>
                          </a:solidFill>
                        </a:rPr>
                        <a:t>Explainable AI for Employee Turnover Prediction: A SHAP-Based Intelligent Analytics Approach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 — Haojie Jia, 2026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solidFill>
                            <a:srgbClr val="232832"/>
                          </a:solidFill>
                        </a:rPr>
                        <a:t>XGBoost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, Random Forest, </a:t>
                      </a:r>
                      <a:r>
                        <a:rPr lang="en-IN" sz="1100" dirty="0" err="1">
                          <a:solidFill>
                            <a:srgbClr val="232832"/>
                          </a:solidFill>
                        </a:rPr>
                        <a:t>LightGBM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, Logistic Regression, SHAP, SMOTE, fairness audit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To provide global, local and interaction-based explanations for employee turnover predictions.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Feature importance and subgroup effects can vary between datasets, requiring validation for each deployment.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4" tooltip="Explainable AI for employee turnover prediction: a SHAP-based intelligent analytics approach | Scientific Reports"/>
                        </a:rPr>
                        <a:t>Nature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888878"/>
                  </a:ext>
                </a:extLst>
              </a:tr>
              <a:tr h="1070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rgbClr val="232832"/>
                          </a:solidFill>
                        </a:rPr>
                        <a:t>Predicting Employee Attrition: XAI-Powered Models for Managerial Decision-Making</a:t>
                      </a: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 — 2025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Transformer, GAN-based oversampling, SHAP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To handle class imbalance and provide transparent attrition predictions for HR managers.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Authors identify the need for validation across more industries and lightweight real-time implementation.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5" tooltip="Predicting Employee Attrition: XAI-Powered Models for Managerial Decision-Making"/>
                        </a:rPr>
                        <a:t>MDPI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07951"/>
                  </a:ext>
                </a:extLst>
              </a:tr>
              <a:tr h="1070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rgbClr val="232832"/>
                          </a:solidFill>
                        </a:rPr>
                        <a:t>Employee Attrition Prediction: An Explanatory and Statistically Robust Ensemble Learning Model</a:t>
                      </a: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 — 2026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SHAP, LIME, Optuna, Random Oversampling, Ensemble Learning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To combine accurate prediction with global and local explanations and identify important retention factors.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Uses benchmark datasets, so real-world organizational validation remains important.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6" tooltip="Employee Attrition Prediction: An Explanatory and Statistically Robust Ensemble Learning Model"/>
                        </a:rPr>
                        <a:t>MDPI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92601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3D3A68B-56D2-6E42-7633-53AFAA3FC3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8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dirty="0">
                <a:solidFill>
                  <a:srgbClr val="232832"/>
                </a:solidFill>
              </a:rPr>
              <a:t>Research Gap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545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Limited Generalizability: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 Most studies rely heavily on the IBM HR Analytics dataset, making it difficult to confirm whether the models perform effectively across different organizations and workforce environments.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Limited Explainability: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 Several existing approaches focus primarily on prediction accuracy and model comparison, without providing sufficient explanations for individual employee predictions.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Lack of Actionable Insights: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 Existing models mainly identify employees who are likely to leave but provide limited guidance on </a:t>
            </a: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which factors should be addressed to reduce attrition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Class Imbalance Challenge: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 Employee attrition datasets often contain significantly fewer employees who leave compared with those who stay, which can affect prediction performance.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Limited Real-World Validation: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 Many approaches are evaluated on benchmark or synthetic datasets rather than validated using diverse real-world organizational data.</a:t>
            </a:r>
          </a:p>
          <a:p>
            <a:pPr marL="342900" indent="-342900" algn="just">
              <a:lnSpc>
                <a:spcPct val="105000"/>
              </a:lnSpc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F5F8FC"/>
                </a:solidFill>
                <a:latin typeface="Aptos"/>
              </a:defRPr>
            </a:pPr>
            <a:endParaRPr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ABD88B-259C-97ED-6382-3468D18F2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3971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Integrates machine learning-based attrition prediction with Explainable AI.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Provides understandable explanations for individual employee risk predictions.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Identifies important employee attributes contributing to the predicted outcome.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Supports aggregate analysis to identify departments with high attrition rates.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Can reveal recurring causes, workforce trends and areas requiring management attention.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8058DC-1846-3054-F244-B38E6E68A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Creativity &amp;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3996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Creativity: Converts complex machine learning decisions into information that can be understood by HR personnel.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Novelty: Combines individual prediction, prediction confidence and explainability within one framework.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Uses multiple possible explanation approaches such as SHAP, LIME, feature importance and permutation importance.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Extends the analysis from individual employees to department-level workforce patterns.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Focuses on producing actionable insights rather than only a binary prediction.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8DE4F-E3EC-1977-10F0-4F245B83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Technical feasibility: The project uses established supervised machine learning and Explainable AI techniques.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Data feasibility: The IBM HR Analytics Employee Attrition dataset is identified as a benchmark dataset in the project.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Implementation feasibility: Data preprocessing, model training, evaluation and visualization can be implemented using Python-based tools.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Evaluation feasibility: Accuracy, precision, recall, F1-score, ROC-AUC and confusion matrix can be used for model evaluation.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Project scope is suitable for an academic implementation and can be extended with a dashboard or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216FC8-19C2-BE2C-20ED-3E10695A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dirty="0">
                <a:solidFill>
                  <a:srgbClr val="232832"/>
                </a:solidFill>
              </a:rPr>
              <a:t>Project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1 — Literature survey &amp; requirements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2 — Dataset collection &amp; preprocessing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3 — EDA &amp; feature engineering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4 — ML model development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5 — Explainable AI integration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6 — Model evaluation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7 — Interface/dashboard development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8 — Testing, documentation &amp;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64518E-E70A-10D7-1A5F-712877981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36794" y="2291506"/>
            <a:ext cx="51918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US" dirty="0">
                <a:solidFill>
                  <a:srgbClr val="232832"/>
                </a:solidFill>
              </a:rPr>
              <a:t>Review 2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E3A95-6E75-FB8F-9C9F-89E5A845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C9462-D2AE-863A-0304-EE39CB1C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625B2F-2509-EB07-5EB9-3C56FD4ED035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CDC0C-5652-4930-0CCA-E2661F4B4180}"/>
              </a:ext>
            </a:extLst>
          </p:cNvPr>
          <p:cNvSpPr txBox="1"/>
          <p:nvPr/>
        </p:nvSpPr>
        <p:spPr>
          <a:xfrm>
            <a:off x="530549" y="493899"/>
            <a:ext cx="51918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Aptos" panose="020B0004020202020204" pitchFamily="34" charset="0"/>
              </a:rPr>
              <a:t>Methodology</a:t>
            </a:r>
          </a:p>
          <a:p>
            <a:endParaRPr lang="en-IN" sz="3000" b="1" dirty="0">
              <a:latin typeface="Aptos" panose="020B0004020202020204" pitchFamily="34" charset="0"/>
            </a:endParaRPr>
          </a:p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7A035E-2E4B-4BFD-5A89-7FFC91946EDC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90BAF-6CB5-D809-BB94-1796EB4BDADC}"/>
              </a:ext>
            </a:extLst>
          </p:cNvPr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4CD16B-7145-F376-1FB5-E84F04FD4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352340-A80D-0FCE-D8AE-1B66CE064C60}"/>
              </a:ext>
            </a:extLst>
          </p:cNvPr>
          <p:cNvSpPr txBox="1"/>
          <p:nvPr/>
        </p:nvSpPr>
        <p:spPr>
          <a:xfrm>
            <a:off x="530549" y="1266696"/>
            <a:ext cx="1056023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Data Collection</a:t>
            </a:r>
            <a:r>
              <a:rPr lang="en-IN" dirty="0">
                <a:latin typeface="Aptos" panose="020B0004020202020204" pitchFamily="34" charset="0"/>
              </a:rPr>
              <a:t> – The IBM HR Analytics Employee Attrition Dataset is collected for employee attrition analysis.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Data Preprocessing</a:t>
            </a:r>
            <a:r>
              <a:rPr lang="en-IN" dirty="0">
                <a:latin typeface="Aptos" panose="020B0004020202020204" pitchFamily="34" charset="0"/>
              </a:rPr>
              <a:t> – The dataset is cleaned by handling unnecessary data and encoding categorical variables into numerical form.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Feature Engineering</a:t>
            </a:r>
            <a:r>
              <a:rPr lang="en-IN" dirty="0">
                <a:latin typeface="Aptos" panose="020B0004020202020204" pitchFamily="34" charset="0"/>
              </a:rPr>
              <a:t> – Relevant employee attributes are selected and prepared as input features for the machine learning model.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Train–Test Split</a:t>
            </a:r>
            <a:r>
              <a:rPr lang="en-IN" dirty="0">
                <a:latin typeface="Aptos" panose="020B0004020202020204" pitchFamily="34" charset="0"/>
              </a:rPr>
              <a:t> – The dataset is divided into training and testing data to train the model and evaluate it on unseen data.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SMOTE</a:t>
            </a:r>
            <a:r>
              <a:rPr lang="en-IN" dirty="0">
                <a:latin typeface="Aptos" panose="020B0004020202020204" pitchFamily="34" charset="0"/>
              </a:rPr>
              <a:t> – Synthetic Minority Over-sampling Technique is applied </a:t>
            </a:r>
            <a:r>
              <a:rPr lang="en-IN" b="1" dirty="0">
                <a:latin typeface="Aptos" panose="020B0004020202020204" pitchFamily="34" charset="0"/>
              </a:rPr>
              <a:t>only to the training data</a:t>
            </a:r>
            <a:r>
              <a:rPr lang="en-IN" dirty="0">
                <a:latin typeface="Aptos" panose="020B0004020202020204" pitchFamily="34" charset="0"/>
              </a:rPr>
              <a:t> to address class imbalance between Leave and Stay employees.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 err="1">
                <a:latin typeface="Aptos" panose="020B0004020202020204" pitchFamily="34" charset="0"/>
              </a:rPr>
              <a:t>XGBoost</a:t>
            </a:r>
            <a:r>
              <a:rPr lang="en-IN" b="1" dirty="0">
                <a:latin typeface="Aptos" panose="020B0004020202020204" pitchFamily="34" charset="0"/>
              </a:rPr>
              <a:t> Model</a:t>
            </a:r>
            <a:r>
              <a:rPr lang="en-IN" dirty="0">
                <a:latin typeface="Aptos" panose="020B0004020202020204" pitchFamily="34" charset="0"/>
              </a:rPr>
              <a:t> – The </a:t>
            </a:r>
            <a:r>
              <a:rPr lang="en-IN" dirty="0" err="1">
                <a:latin typeface="Aptos" panose="020B0004020202020204" pitchFamily="34" charset="0"/>
              </a:rPr>
              <a:t>XGBoost</a:t>
            </a:r>
            <a:r>
              <a:rPr lang="en-IN" dirty="0">
                <a:latin typeface="Aptos" panose="020B0004020202020204" pitchFamily="34" charset="0"/>
              </a:rPr>
              <a:t> classification model is trained using the processed and balanced training data to predict employee attrition.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Prediction</a:t>
            </a:r>
            <a:r>
              <a:rPr lang="en-IN" dirty="0">
                <a:latin typeface="Aptos" panose="020B0004020202020204" pitchFamily="34" charset="0"/>
              </a:rPr>
              <a:t> – The trained model predicts whether an employee is likely to </a:t>
            </a:r>
            <a:r>
              <a:rPr lang="en-IN" b="1" dirty="0">
                <a:latin typeface="Aptos" panose="020B0004020202020204" pitchFamily="34" charset="0"/>
              </a:rPr>
              <a:t>Leave or Stay</a:t>
            </a:r>
            <a:r>
              <a:rPr lang="en-IN" dirty="0">
                <a:latin typeface="Aptos" panose="020B0004020202020204" pitchFamily="34" charset="0"/>
              </a:rPr>
              <a:t> and provides a risk probability.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Explainable AI</a:t>
            </a:r>
            <a:r>
              <a:rPr lang="en-IN" dirty="0">
                <a:latin typeface="Aptos" panose="020B0004020202020204" pitchFamily="34" charset="0"/>
              </a:rPr>
              <a:t> – LIME and SHAP are used to explain the factors contributing to individual employee attrition predictions.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Performance Evaluation</a:t>
            </a:r>
            <a:r>
              <a:rPr lang="en-IN" dirty="0">
                <a:latin typeface="Aptos" panose="020B0004020202020204" pitchFamily="34" charset="0"/>
              </a:rPr>
              <a:t> – The model is evaluated using </a:t>
            </a:r>
            <a:r>
              <a:rPr lang="en-IN" b="1" dirty="0">
                <a:latin typeface="Aptos" panose="020B0004020202020204" pitchFamily="34" charset="0"/>
              </a:rPr>
              <a:t>Accuracy, Precision, Recall, F1-Score, ROC-AUC, and Confusion Matrix</a:t>
            </a:r>
            <a:r>
              <a:rPr lang="en-IN" dirty="0"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7491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2F57F-B57D-481A-1161-A660FD565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477042-8744-7C05-DF7E-9EB2468C130F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F03783-62AC-14DA-5E67-5ACA5112E8EA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466BF0-8B32-DEAF-80A1-9C2DB058D570}"/>
              </a:ext>
            </a:extLst>
          </p:cNvPr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A36DB4-10EC-A717-6AA4-469896EFB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EBEA09-C26D-12B7-086B-E21A426FAEF4}"/>
              </a:ext>
            </a:extLst>
          </p:cNvPr>
          <p:cNvSpPr txBox="1"/>
          <p:nvPr/>
        </p:nvSpPr>
        <p:spPr>
          <a:xfrm>
            <a:off x="570271" y="37837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rgbClr val="162746"/>
                </a:solidFill>
                <a:latin typeface="Aptos Display"/>
              </a:rPr>
              <a:t>System Design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92C589DB-B51C-4E74-E535-1366408F5E34}"/>
              </a:ext>
            </a:extLst>
          </p:cNvPr>
          <p:cNvSpPr/>
          <p:nvPr/>
        </p:nvSpPr>
        <p:spPr>
          <a:xfrm>
            <a:off x="356616" y="1460582"/>
            <a:ext cx="1417320" cy="914400"/>
          </a:xfrm>
          <a:prstGeom prst="round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Employee
Input</a:t>
            </a:r>
          </a:p>
        </p:txBody>
      </p:sp>
      <p:cxnSp>
        <p:nvCxnSpPr>
          <p:cNvPr id="14" name="Connector 6">
            <a:extLst>
              <a:ext uri="{FF2B5EF4-FFF2-40B4-BE49-F238E27FC236}">
                <a16:creationId xmlns:a16="http://schemas.microsoft.com/office/drawing/2014/main" id="{92057E49-EC74-DFA9-DEB0-A9A6FFED1069}"/>
              </a:ext>
            </a:extLst>
          </p:cNvPr>
          <p:cNvCxnSpPr/>
          <p:nvPr/>
        </p:nvCxnSpPr>
        <p:spPr>
          <a:xfrm>
            <a:off x="1828800" y="1966943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0460BE15-77D8-6382-C6C8-143967865F92}"/>
              </a:ext>
            </a:extLst>
          </p:cNvPr>
          <p:cNvSpPr/>
          <p:nvPr/>
        </p:nvSpPr>
        <p:spPr>
          <a:xfrm>
            <a:off x="2054350" y="1475822"/>
            <a:ext cx="1417320" cy="914400"/>
          </a:xfrm>
          <a:prstGeom prst="roundRect">
            <a:avLst/>
          </a:prstGeom>
          <a:solidFill>
            <a:srgbClr val="209691"/>
          </a:solidFill>
          <a:ln>
            <a:solidFill>
              <a:srgbClr val="2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Frontend
HTML/CSS/JS</a:t>
            </a:r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E40303E3-1B63-49CE-66FD-9C5F5D428226}"/>
              </a:ext>
            </a:extLst>
          </p:cNvPr>
          <p:cNvSpPr/>
          <p:nvPr/>
        </p:nvSpPr>
        <p:spPr>
          <a:xfrm>
            <a:off x="3794760" y="1460582"/>
            <a:ext cx="1417320" cy="914400"/>
          </a:xfrm>
          <a:prstGeom prst="roundRect">
            <a:avLst/>
          </a:prstGeom>
          <a:solidFill>
            <a:srgbClr val="7053AA"/>
          </a:solidFill>
          <a:ln>
            <a:solidFill>
              <a:srgbClr val="705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FastAPI
Backend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C913EF32-4EF1-E0D6-5730-374A88DDEE07}"/>
              </a:ext>
            </a:extLst>
          </p:cNvPr>
          <p:cNvSpPr/>
          <p:nvPr/>
        </p:nvSpPr>
        <p:spPr>
          <a:xfrm>
            <a:off x="5513832" y="1460582"/>
            <a:ext cx="1417320" cy="914400"/>
          </a:xfrm>
          <a:prstGeom prst="roundRect">
            <a:avLst/>
          </a:prstGeom>
          <a:solidFill>
            <a:srgbClr val="E68937"/>
          </a:solidFill>
          <a:ln>
            <a:solidFill>
              <a:srgbClr val="E6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>Data 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Preprocessing
</a:t>
            </a:r>
          </a:p>
        </p:txBody>
      </p:sp>
      <p:sp>
        <p:nvSpPr>
          <p:cNvPr id="26" name="Rounded Rectangle 13">
            <a:extLst>
              <a:ext uri="{FF2B5EF4-FFF2-40B4-BE49-F238E27FC236}">
                <a16:creationId xmlns:a16="http://schemas.microsoft.com/office/drawing/2014/main" id="{1A7AC7E5-AC7F-D1BB-4A57-A871F363F048}"/>
              </a:ext>
            </a:extLst>
          </p:cNvPr>
          <p:cNvSpPr/>
          <p:nvPr/>
        </p:nvSpPr>
        <p:spPr>
          <a:xfrm>
            <a:off x="7281674" y="1460582"/>
            <a:ext cx="1417320" cy="914400"/>
          </a:xfrm>
          <a:prstGeom prst="roundRect">
            <a:avLst/>
          </a:prstGeom>
          <a:solidFill>
            <a:srgbClr val="36915C"/>
          </a:solidFill>
          <a:ln>
            <a:solidFill>
              <a:srgbClr val="36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Aptos"/>
              </a:rPr>
              <a:t>XGBoost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
Model</a:t>
            </a:r>
          </a:p>
        </p:txBody>
      </p:sp>
      <p:sp>
        <p:nvSpPr>
          <p:cNvPr id="28" name="Rounded Rectangle 15">
            <a:extLst>
              <a:ext uri="{FF2B5EF4-FFF2-40B4-BE49-F238E27FC236}">
                <a16:creationId xmlns:a16="http://schemas.microsoft.com/office/drawing/2014/main" id="{48BE8031-C60A-B606-C654-F0170EFF15C7}"/>
              </a:ext>
            </a:extLst>
          </p:cNvPr>
          <p:cNvSpPr/>
          <p:nvPr/>
        </p:nvSpPr>
        <p:spPr>
          <a:xfrm>
            <a:off x="9049516" y="1426661"/>
            <a:ext cx="1417320" cy="914400"/>
          </a:xfrm>
          <a:prstGeom prst="roundRect">
            <a:avLst/>
          </a:prstGeom>
          <a:solidFill>
            <a:srgbClr val="CD4B4B"/>
          </a:solidFill>
          <a:ln>
            <a:solidFill>
              <a:srgbClr val="CD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Risk +
Probability</a:t>
            </a: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D12CFA19-B3D7-793E-32A8-9ACEE507CE1D}"/>
              </a:ext>
            </a:extLst>
          </p:cNvPr>
          <p:cNvSpPr/>
          <p:nvPr/>
        </p:nvSpPr>
        <p:spPr>
          <a:xfrm>
            <a:off x="10747250" y="1426661"/>
            <a:ext cx="1417320" cy="914400"/>
          </a:xfrm>
          <a:prstGeom prst="roundRect">
            <a:avLst/>
          </a:prstGeom>
          <a:solidFill>
            <a:srgbClr val="7053AA"/>
          </a:solidFill>
          <a:ln>
            <a:solidFill>
              <a:srgbClr val="705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SHAP + LIME
Explanation</a:t>
            </a:r>
          </a:p>
        </p:txBody>
      </p:sp>
      <p:cxnSp>
        <p:nvCxnSpPr>
          <p:cNvPr id="31" name="Connector 6">
            <a:extLst>
              <a:ext uri="{FF2B5EF4-FFF2-40B4-BE49-F238E27FC236}">
                <a16:creationId xmlns:a16="http://schemas.microsoft.com/office/drawing/2014/main" id="{9A06681E-9E1C-234D-F766-608982EECA52}"/>
              </a:ext>
            </a:extLst>
          </p:cNvPr>
          <p:cNvCxnSpPr>
            <a:cxnSpLocks/>
          </p:cNvCxnSpPr>
          <p:nvPr/>
        </p:nvCxnSpPr>
        <p:spPr>
          <a:xfrm>
            <a:off x="3526831" y="1933022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6">
            <a:extLst>
              <a:ext uri="{FF2B5EF4-FFF2-40B4-BE49-F238E27FC236}">
                <a16:creationId xmlns:a16="http://schemas.microsoft.com/office/drawing/2014/main" id="{DCA09655-DFDA-F545-7FDE-F165DB5BF0ED}"/>
              </a:ext>
            </a:extLst>
          </p:cNvPr>
          <p:cNvCxnSpPr/>
          <p:nvPr/>
        </p:nvCxnSpPr>
        <p:spPr>
          <a:xfrm>
            <a:off x="5277956" y="1966943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6">
            <a:extLst>
              <a:ext uri="{FF2B5EF4-FFF2-40B4-BE49-F238E27FC236}">
                <a16:creationId xmlns:a16="http://schemas.microsoft.com/office/drawing/2014/main" id="{53DDDC71-1A11-C19C-8CAE-3C06777F684C}"/>
              </a:ext>
            </a:extLst>
          </p:cNvPr>
          <p:cNvCxnSpPr/>
          <p:nvPr/>
        </p:nvCxnSpPr>
        <p:spPr>
          <a:xfrm>
            <a:off x="7005484" y="1962518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6">
            <a:extLst>
              <a:ext uri="{FF2B5EF4-FFF2-40B4-BE49-F238E27FC236}">
                <a16:creationId xmlns:a16="http://schemas.microsoft.com/office/drawing/2014/main" id="{BBD173ED-3D46-8CF6-47B5-DDE2E84D12B5}"/>
              </a:ext>
            </a:extLst>
          </p:cNvPr>
          <p:cNvCxnSpPr/>
          <p:nvPr/>
        </p:nvCxnSpPr>
        <p:spPr>
          <a:xfrm>
            <a:off x="8790434" y="1949735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6">
            <a:extLst>
              <a:ext uri="{FF2B5EF4-FFF2-40B4-BE49-F238E27FC236}">
                <a16:creationId xmlns:a16="http://schemas.microsoft.com/office/drawing/2014/main" id="{0E815E1C-9370-2396-8BC0-D5D8F1E6ADDB}"/>
              </a:ext>
            </a:extLst>
          </p:cNvPr>
          <p:cNvCxnSpPr/>
          <p:nvPr/>
        </p:nvCxnSpPr>
        <p:spPr>
          <a:xfrm>
            <a:off x="10466836" y="1913357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C8B6E135-0B78-6711-F480-07E9C80CE26D}"/>
              </a:ext>
            </a:extLst>
          </p:cNvPr>
          <p:cNvSpPr/>
          <p:nvPr/>
        </p:nvSpPr>
        <p:spPr>
          <a:xfrm>
            <a:off x="4982496" y="4203781"/>
            <a:ext cx="2743200" cy="822960"/>
          </a:xfrm>
          <a:prstGeom prst="round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Final Result
shown on website</a:t>
            </a:r>
          </a:p>
        </p:txBody>
      </p:sp>
      <p:cxnSp>
        <p:nvCxnSpPr>
          <p:cNvPr id="43" name="Connector 19">
            <a:extLst>
              <a:ext uri="{FF2B5EF4-FFF2-40B4-BE49-F238E27FC236}">
                <a16:creationId xmlns:a16="http://schemas.microsoft.com/office/drawing/2014/main" id="{6A316380-0690-E125-2125-7D0A1B3284FC}"/>
              </a:ext>
            </a:extLst>
          </p:cNvPr>
          <p:cNvCxnSpPr>
            <a:cxnSpLocks/>
          </p:cNvCxnSpPr>
          <p:nvPr/>
        </p:nvCxnSpPr>
        <p:spPr>
          <a:xfrm flipH="1">
            <a:off x="6194323" y="2390222"/>
            <a:ext cx="4817806" cy="1813559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E40D480-8340-CB41-4C20-827F6AA98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0" y="932376"/>
            <a:ext cx="12164570" cy="592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07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27035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162746"/>
                </a:solidFill>
                <a:latin typeface="Aptos Display"/>
              </a:rPr>
              <a:t>Modern 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2544" y="117121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  <a:latin typeface="Aptos"/>
              </a:rPr>
              <a:t>Technology stack used in the current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82296" cy="16002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62746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94560"/>
            <a:ext cx="1965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A34"/>
                </a:solidFill>
                <a:latin typeface="Aptos"/>
              </a:rPr>
              <a:t>Core application and ML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600200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82296" cy="1600200"/>
          </a:xfrm>
          <a:prstGeom prst="rect">
            <a:avLst/>
          </a:prstGeom>
          <a:solidFill>
            <a:srgbClr val="2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1568" y="1737360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746"/>
                </a:solidFill>
                <a:latin typeface="Aptos"/>
              </a:rPr>
              <a:t>Pandas /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194560"/>
            <a:ext cx="1965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A34"/>
                </a:solidFill>
                <a:latin typeface="Aptos"/>
              </a:rPr>
              <a:t>Dataset processing and numerical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600200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1600200"/>
            <a:ext cx="82296" cy="1600200"/>
          </a:xfrm>
          <a:prstGeom prst="rect">
            <a:avLst/>
          </a:prstGeom>
          <a:solidFill>
            <a:srgbClr val="705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61888" y="1737360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746"/>
                </a:solidFill>
                <a:latin typeface="Aptos"/>
              </a:rP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194560"/>
            <a:ext cx="1965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A34"/>
                </a:solidFill>
                <a:latin typeface="Aptos"/>
              </a:rPr>
              <a:t>Preprocessing, split and 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00200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600200"/>
            <a:ext cx="82296" cy="1600200"/>
          </a:xfrm>
          <a:prstGeom prst="rect">
            <a:avLst/>
          </a:prstGeom>
          <a:solidFill>
            <a:srgbClr val="36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2208" y="1737360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746"/>
                </a:solidFill>
                <a:latin typeface="Aptos"/>
              </a:rP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194560"/>
            <a:ext cx="1965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A34"/>
                </a:solidFill>
                <a:latin typeface="Aptos"/>
              </a:rPr>
              <a:t>Primary employee attrition classifier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57600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657600"/>
            <a:ext cx="82296" cy="1600200"/>
          </a:xfrm>
          <a:prstGeom prst="rect">
            <a:avLst/>
          </a:prstGeom>
          <a:solidFill>
            <a:srgbClr val="E6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3794760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746"/>
                </a:solidFill>
                <a:latin typeface="Aptos"/>
              </a:rPr>
              <a:t>SHAP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251960"/>
            <a:ext cx="1965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A34"/>
                </a:solidFill>
                <a:latin typeface="Aptos"/>
              </a:rPr>
              <a:t>Global and individual model explanations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3657600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3657600"/>
            <a:ext cx="82296" cy="160020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01568" y="3794760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746"/>
                </a:solidFill>
                <a:latin typeface="Aptos"/>
              </a:rPr>
              <a:t>LIME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4251960"/>
            <a:ext cx="1965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A34"/>
                </a:solidFill>
                <a:latin typeface="Aptos"/>
              </a:rPr>
              <a:t>Local explanation for individual predictions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3657600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60720" y="3657600"/>
            <a:ext cx="82296" cy="16002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1888" y="3794760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746"/>
                </a:solidFill>
                <a:latin typeface="Aptos"/>
              </a:rPr>
              <a:t>FastAPI + Uvicorn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4251960"/>
            <a:ext cx="1965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A34"/>
                </a:solidFill>
                <a:latin typeface="Aptos"/>
              </a:rPr>
              <a:t>Backend API and local server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657600"/>
            <a:ext cx="2286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3657600"/>
            <a:ext cx="82296" cy="1600200"/>
          </a:xfrm>
          <a:prstGeom prst="rect">
            <a:avLst/>
          </a:prstGeom>
          <a:solidFill>
            <a:srgbClr val="2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22208" y="3794760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746"/>
                </a:solidFill>
                <a:latin typeface="Aptos"/>
              </a:rPr>
              <a:t>HTML / CSS / JavaScript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251960"/>
            <a:ext cx="1965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A34"/>
                </a:solidFill>
                <a:latin typeface="Aptos"/>
              </a:rPr>
              <a:t>User-facing frontend and API integration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F7B26D-675E-751C-9146-31F03F6956EA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770F5C-6214-404A-958B-7968B139B39D}"/>
              </a:ext>
            </a:extLst>
          </p:cNvPr>
          <p:cNvSpPr/>
          <p:nvPr/>
        </p:nvSpPr>
        <p:spPr>
          <a:xfrm>
            <a:off x="668888" y="874038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3D9D4-4582-8A9B-9919-1C780B3C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5DB59C-2495-3CEA-E49F-80C10B9B277D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4CAED2-382F-96BE-63AB-FD7B644065E8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953E12-1F8B-098A-52B6-3C3E030D7E95}"/>
              </a:ext>
            </a:extLst>
          </p:cNvPr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BA2A63-46C3-1618-673E-090248DE6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C0FD6B-7E42-9D2B-41C5-50D8648C861C}"/>
              </a:ext>
            </a:extLst>
          </p:cNvPr>
          <p:cNvSpPr txBox="1"/>
          <p:nvPr/>
        </p:nvSpPr>
        <p:spPr>
          <a:xfrm>
            <a:off x="501445" y="52499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Aptos Display" panose="020B0004020202020204" pitchFamily="34" charset="0"/>
              </a:rPr>
              <a:t>Implementation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026CC-3D2F-AB5B-EB17-196D967409CF}"/>
              </a:ext>
            </a:extLst>
          </p:cNvPr>
          <p:cNvSpPr txBox="1"/>
          <p:nvPr/>
        </p:nvSpPr>
        <p:spPr>
          <a:xfrm>
            <a:off x="676656" y="1384744"/>
            <a:ext cx="1104339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/>
            </a:pPr>
            <a:r>
              <a:rPr lang="en-US" dirty="0">
                <a:latin typeface="Aptos" panose="020B0004020202020204" pitchFamily="34" charset="0"/>
              </a:rPr>
              <a:t>• Existing frontend collects employee attributes.</a:t>
            </a:r>
          </a:p>
          <a:p>
            <a:pPr algn="l">
              <a:defRPr sz="2000" b="0"/>
            </a:pP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• </a:t>
            </a:r>
            <a:r>
              <a:rPr lang="en-US" dirty="0" err="1">
                <a:latin typeface="Aptos" panose="020B0004020202020204" pitchFamily="34" charset="0"/>
              </a:rPr>
              <a:t>FastAPI</a:t>
            </a:r>
            <a:r>
              <a:rPr lang="en-US" dirty="0">
                <a:latin typeface="Aptos" panose="020B0004020202020204" pitchFamily="34" charset="0"/>
              </a:rPr>
              <a:t> receives employee input through the prediction API.</a:t>
            </a:r>
          </a:p>
          <a:p>
            <a:pPr algn="l">
              <a:defRPr sz="2000" b="0"/>
            </a:pP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• Training preprocessing is reused for new employee data.</a:t>
            </a:r>
          </a:p>
          <a:p>
            <a:pPr algn="l">
              <a:defRPr sz="2000" b="0"/>
            </a:pP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• </a:t>
            </a:r>
            <a:r>
              <a:rPr lang="en-US" dirty="0" err="1">
                <a:latin typeface="Aptos" panose="020B0004020202020204" pitchFamily="34" charset="0"/>
              </a:rPr>
              <a:t>XGBoost</a:t>
            </a:r>
            <a:r>
              <a:rPr lang="en-US" dirty="0">
                <a:latin typeface="Aptos" panose="020B0004020202020204" pitchFamily="34" charset="0"/>
              </a:rPr>
              <a:t> generates Attrition prediction and risk probability.</a:t>
            </a:r>
          </a:p>
          <a:p>
            <a:pPr algn="l">
              <a:defRPr sz="2000" b="0"/>
            </a:pP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• LIME &amp; SHAP provides an explanation.</a:t>
            </a:r>
          </a:p>
          <a:p>
            <a:pPr algn="l">
              <a:defRPr sz="2000" b="0"/>
            </a:pP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• SMOTE is applied only during model training.</a:t>
            </a:r>
          </a:p>
          <a:p>
            <a:pPr algn="l">
              <a:defRPr sz="2000" b="0"/>
            </a:pP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• Evaluation is performed on the untouched unseen test set.</a:t>
            </a:r>
          </a:p>
          <a:p>
            <a:pPr algn="l">
              <a:defRPr sz="2000" b="0"/>
            </a:pP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• Evaluation metrics are displayed on the existing result page.</a:t>
            </a:r>
          </a:p>
        </p:txBody>
      </p:sp>
    </p:spTree>
    <p:extLst>
      <p:ext uri="{BB962C8B-B14F-4D97-AF65-F5344CB8AC3E}">
        <p14:creationId xmlns:p14="http://schemas.microsoft.com/office/powerpoint/2010/main" val="1767338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07D04-1A76-4B54-A13E-3CA62AC8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820A0C-7F37-3578-F491-B3198D514625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70C49-C7EB-840A-CC2F-0A94CDD8E7C8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49039B-2190-C2C3-39AA-FB7073A9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10ABF-0979-DDB9-4A31-4A198AE9B470}"/>
              </a:ext>
            </a:extLst>
          </p:cNvPr>
          <p:cNvSpPr txBox="1"/>
          <p:nvPr/>
        </p:nvSpPr>
        <p:spPr>
          <a:xfrm>
            <a:off x="676656" y="442452"/>
            <a:ext cx="17027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Aptos Display" panose="020B0004020202020204" pitchFamily="34" charset="0"/>
              </a:rPr>
              <a:t>Code</a:t>
            </a:r>
            <a:endParaRPr lang="en-IN" sz="3000" b="1" dirty="0"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54FC8-986B-A13E-60F6-9B721D829503}"/>
              </a:ext>
            </a:extLst>
          </p:cNvPr>
          <p:cNvSpPr txBox="1"/>
          <p:nvPr/>
        </p:nvSpPr>
        <p:spPr>
          <a:xfrm>
            <a:off x="481781" y="1327355"/>
            <a:ext cx="451300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ptos" panose="020B0004020202020204" pitchFamily="34" charset="0"/>
              </a:rPr>
              <a:t># Split data first</a:t>
            </a:r>
          </a:p>
          <a:p>
            <a:r>
              <a:rPr lang="en-IN" sz="1200" dirty="0" err="1">
                <a:latin typeface="Aptos" panose="020B0004020202020204" pitchFamily="34" charset="0"/>
              </a:rPr>
              <a:t>X_train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X_test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y_train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y_test</a:t>
            </a:r>
            <a:r>
              <a:rPr lang="en-IN" sz="1200" dirty="0">
                <a:latin typeface="Aptos" panose="020B0004020202020204" pitchFamily="34" charset="0"/>
              </a:rPr>
              <a:t> = </a:t>
            </a:r>
            <a:r>
              <a:rPr lang="en-IN" sz="1200" dirty="0" err="1">
                <a:latin typeface="Aptos" panose="020B0004020202020204" pitchFamily="34" charset="0"/>
              </a:rPr>
              <a:t>train_test_split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X, y, </a:t>
            </a:r>
            <a:r>
              <a:rPr lang="en-IN" sz="1200" dirty="0" err="1">
                <a:latin typeface="Aptos" panose="020B0004020202020204" pitchFamily="34" charset="0"/>
              </a:rPr>
              <a:t>test_size</a:t>
            </a:r>
            <a:r>
              <a:rPr lang="en-IN" sz="1200" dirty="0">
                <a:latin typeface="Aptos" panose="020B0004020202020204" pitchFamily="34" charset="0"/>
              </a:rPr>
              <a:t>=0.2,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random_state</a:t>
            </a:r>
            <a:r>
              <a:rPr lang="en-IN" sz="1200" dirty="0">
                <a:latin typeface="Aptos" panose="020B0004020202020204" pitchFamily="34" charset="0"/>
              </a:rPr>
              <a:t>=42,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stratify=y</a:t>
            </a:r>
          </a:p>
          <a:p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# Preprocess training data</a:t>
            </a:r>
          </a:p>
          <a:p>
            <a:r>
              <a:rPr lang="en-IN" sz="1200" dirty="0" err="1">
                <a:latin typeface="Aptos" panose="020B0004020202020204" pitchFamily="34" charset="0"/>
              </a:rPr>
              <a:t>X_train_processed</a:t>
            </a:r>
            <a:r>
              <a:rPr lang="en-IN" sz="1200" dirty="0">
                <a:latin typeface="Aptos" panose="020B0004020202020204" pitchFamily="34" charset="0"/>
              </a:rPr>
              <a:t> = </a:t>
            </a:r>
            <a:r>
              <a:rPr lang="en-IN" sz="1200" dirty="0" err="1">
                <a:latin typeface="Aptos" panose="020B0004020202020204" pitchFamily="34" charset="0"/>
              </a:rPr>
              <a:t>preprocess.fit_transform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X_train</a:t>
            </a:r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r>
              <a:rPr lang="en-IN" sz="1200" dirty="0" err="1">
                <a:latin typeface="Aptos" panose="020B0004020202020204" pitchFamily="34" charset="0"/>
              </a:rPr>
              <a:t>X_test_processed</a:t>
            </a:r>
            <a:r>
              <a:rPr lang="en-IN" sz="1200" dirty="0">
                <a:latin typeface="Aptos" panose="020B0004020202020204" pitchFamily="34" charset="0"/>
              </a:rPr>
              <a:t> = </a:t>
            </a:r>
            <a:r>
              <a:rPr lang="en-IN" sz="1200" dirty="0" err="1">
                <a:latin typeface="Aptos" panose="020B0004020202020204" pitchFamily="34" charset="0"/>
              </a:rPr>
              <a:t>preprocess.transform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X_test</a:t>
            </a:r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# SMOTE only on training data</a:t>
            </a:r>
          </a:p>
          <a:p>
            <a:r>
              <a:rPr lang="en-IN" sz="1200" dirty="0">
                <a:latin typeface="Aptos" panose="020B0004020202020204" pitchFamily="34" charset="0"/>
              </a:rPr>
              <a:t>smote = SMOTE(</a:t>
            </a:r>
            <a:r>
              <a:rPr lang="en-IN" sz="1200" dirty="0" err="1">
                <a:latin typeface="Aptos" panose="020B0004020202020204" pitchFamily="34" charset="0"/>
              </a:rPr>
              <a:t>random_state</a:t>
            </a:r>
            <a:r>
              <a:rPr lang="en-IN" sz="1200" dirty="0">
                <a:latin typeface="Aptos" panose="020B0004020202020204" pitchFamily="34" charset="0"/>
              </a:rPr>
              <a:t>=42)</a:t>
            </a:r>
          </a:p>
          <a:p>
            <a:r>
              <a:rPr lang="en-IN" sz="1200" dirty="0" err="1">
                <a:latin typeface="Aptos" panose="020B0004020202020204" pitchFamily="34" charset="0"/>
              </a:rPr>
              <a:t>X_train_smote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y_train_smote</a:t>
            </a:r>
            <a:r>
              <a:rPr lang="en-IN" sz="1200" dirty="0">
                <a:latin typeface="Aptos" panose="020B0004020202020204" pitchFamily="34" charset="0"/>
              </a:rPr>
              <a:t> = </a:t>
            </a:r>
            <a:r>
              <a:rPr lang="en-IN" sz="1200" dirty="0" err="1">
                <a:latin typeface="Aptos" panose="020B0004020202020204" pitchFamily="34" charset="0"/>
              </a:rPr>
              <a:t>smote.fit_resample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X_train_processed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y_train</a:t>
            </a:r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# Train </a:t>
            </a:r>
            <a:r>
              <a:rPr lang="en-IN" sz="1200" dirty="0" err="1">
                <a:latin typeface="Aptos" panose="020B0004020202020204" pitchFamily="34" charset="0"/>
              </a:rPr>
              <a:t>XGBoost</a:t>
            </a:r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model = </a:t>
            </a:r>
            <a:r>
              <a:rPr lang="en-IN" sz="1200" dirty="0" err="1">
                <a:latin typeface="Aptos" panose="020B0004020202020204" pitchFamily="34" charset="0"/>
              </a:rPr>
              <a:t>XGBClassifier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n_estimators</a:t>
            </a:r>
            <a:r>
              <a:rPr lang="en-IN" sz="1200" dirty="0">
                <a:latin typeface="Aptos" panose="020B0004020202020204" pitchFamily="34" charset="0"/>
              </a:rPr>
              <a:t>=250,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max_depth</a:t>
            </a:r>
            <a:r>
              <a:rPr lang="en-IN" sz="1200" dirty="0">
                <a:latin typeface="Aptos" panose="020B0004020202020204" pitchFamily="34" charset="0"/>
              </a:rPr>
              <a:t>=4,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learning_rate</a:t>
            </a:r>
            <a:r>
              <a:rPr lang="en-IN" sz="1200" dirty="0">
                <a:latin typeface="Aptos" panose="020B0004020202020204" pitchFamily="34" charset="0"/>
              </a:rPr>
              <a:t>=0.05,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random_state</a:t>
            </a:r>
            <a:r>
              <a:rPr lang="en-IN" sz="1200" dirty="0">
                <a:latin typeface="Aptos" panose="020B0004020202020204" pitchFamily="34" charset="0"/>
              </a:rPr>
              <a:t>=42</a:t>
            </a:r>
          </a:p>
          <a:p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 err="1">
                <a:latin typeface="Aptos" panose="020B0004020202020204" pitchFamily="34" charset="0"/>
              </a:rPr>
              <a:t>model.fit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X_train_smote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y_train_smote</a:t>
            </a:r>
            <a:r>
              <a:rPr lang="en-IN" sz="1200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57F7A-7DAE-605F-ADBD-2B06D2AF4D6B}"/>
              </a:ext>
            </a:extLst>
          </p:cNvPr>
          <p:cNvSpPr txBox="1"/>
          <p:nvPr/>
        </p:nvSpPr>
        <p:spPr>
          <a:xfrm>
            <a:off x="5885091" y="1166842"/>
            <a:ext cx="45130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ptos" panose="020B0004020202020204" pitchFamily="34" charset="0"/>
              </a:rPr>
              <a:t># Predict employee attrition</a:t>
            </a:r>
          </a:p>
          <a:p>
            <a:r>
              <a:rPr lang="en-IN" sz="1200" dirty="0">
                <a:latin typeface="Aptos" panose="020B0004020202020204" pitchFamily="34" charset="0"/>
              </a:rPr>
              <a:t>risk = float(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pipeline.predict_proba</a:t>
            </a:r>
            <a:r>
              <a:rPr lang="en-IN" sz="1200" dirty="0">
                <a:latin typeface="Aptos" panose="020B0004020202020204" pitchFamily="34" charset="0"/>
              </a:rPr>
              <a:t>(row)[0, 1]</a:t>
            </a:r>
          </a:p>
          <a:p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prediction = (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"Likely to leave"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if risk &gt;= 0.5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else "Likely to stay"</a:t>
            </a:r>
          </a:p>
          <a:p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# SHAP explanation</a:t>
            </a:r>
          </a:p>
          <a:p>
            <a:r>
              <a:rPr lang="en-IN" sz="1200" dirty="0">
                <a:latin typeface="Aptos" panose="020B0004020202020204" pitchFamily="34" charset="0"/>
              </a:rPr>
              <a:t>values = </a:t>
            </a:r>
            <a:r>
              <a:rPr lang="en-IN" sz="1200" dirty="0" err="1">
                <a:latin typeface="Aptos" panose="020B0004020202020204" pitchFamily="34" charset="0"/>
              </a:rPr>
              <a:t>shap.TreeExplainer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pipeline.named_steps</a:t>
            </a:r>
            <a:r>
              <a:rPr lang="en-IN" sz="1200" dirty="0">
                <a:latin typeface="Aptos" panose="020B0004020202020204" pitchFamily="34" charset="0"/>
              </a:rPr>
              <a:t>["model"]</a:t>
            </a:r>
          </a:p>
          <a:p>
            <a:r>
              <a:rPr lang="en-IN" sz="1200" dirty="0">
                <a:latin typeface="Aptos" panose="020B0004020202020204" pitchFamily="34" charset="0"/>
              </a:rPr>
              <a:t>)(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pipeline.named_steps</a:t>
            </a:r>
            <a:r>
              <a:rPr lang="en-IN" sz="1200" dirty="0">
                <a:latin typeface="Aptos" panose="020B0004020202020204" pitchFamily="34" charset="0"/>
              </a:rPr>
              <a:t>["preprocess"].transform(row)</a:t>
            </a:r>
          </a:p>
          <a:p>
            <a:r>
              <a:rPr lang="en-IN" sz="1200" dirty="0">
                <a:latin typeface="Aptos" panose="020B0004020202020204" pitchFamily="34" charset="0"/>
              </a:rPr>
              <a:t>).values[0]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# LIME explanation</a:t>
            </a:r>
          </a:p>
          <a:p>
            <a:r>
              <a:rPr lang="en-IN" sz="1200" dirty="0">
                <a:latin typeface="Aptos" panose="020B0004020202020204" pitchFamily="34" charset="0"/>
              </a:rPr>
              <a:t>explanation = _</a:t>
            </a:r>
            <a:r>
              <a:rPr lang="en-IN" sz="1200" dirty="0" err="1">
                <a:latin typeface="Aptos" panose="020B0004020202020204" pitchFamily="34" charset="0"/>
              </a:rPr>
              <a:t>lime.explain_instance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transformed[0],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predict_fn</a:t>
            </a:r>
            <a:r>
              <a:rPr lang="en-IN" sz="1200" dirty="0">
                <a:latin typeface="Aptos" panose="020B0004020202020204" pitchFamily="34" charset="0"/>
              </a:rPr>
              <a:t>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num_features</a:t>
            </a:r>
            <a:r>
              <a:rPr lang="en-IN" sz="1200" dirty="0">
                <a:latin typeface="Aptos" panose="020B0004020202020204" pitchFamily="34" charset="0"/>
              </a:rPr>
              <a:t>=8</a:t>
            </a:r>
          </a:p>
          <a:p>
            <a:r>
              <a:rPr lang="en-IN" sz="1200" dirty="0">
                <a:latin typeface="Aptos" panose="020B00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5581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37DC1-1FD8-BC97-7C14-D53B68879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BDD9AE-91D2-7686-3E50-9DADB43C2E5A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7C8FE-B82C-B8B6-0A81-13CC6C0F25F4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C0795-F27E-0829-6A1B-663E781B3751}"/>
              </a:ext>
            </a:extLst>
          </p:cNvPr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0E212F-5404-F945-1261-F6B246DD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313D39-CC17-F6E6-AA74-CCB003BA46D6}"/>
              </a:ext>
            </a:extLst>
          </p:cNvPr>
          <p:cNvSpPr txBox="1"/>
          <p:nvPr/>
        </p:nvSpPr>
        <p:spPr>
          <a:xfrm>
            <a:off x="676656" y="1484671"/>
            <a:ext cx="46998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ptos" panose="020B0004020202020204" pitchFamily="34" charset="0"/>
              </a:rPr>
              <a:t>#model evaluation</a:t>
            </a:r>
          </a:p>
          <a:p>
            <a:r>
              <a:rPr lang="en-IN" sz="1200" dirty="0">
                <a:latin typeface="Aptos" panose="020B0004020202020204" pitchFamily="34" charset="0"/>
              </a:rPr>
              <a:t>from </a:t>
            </a:r>
            <a:r>
              <a:rPr lang="en-IN" sz="1200" dirty="0" err="1">
                <a:latin typeface="Aptos" panose="020B0004020202020204" pitchFamily="34" charset="0"/>
              </a:rPr>
              <a:t>sklearn.metrics</a:t>
            </a:r>
            <a:r>
              <a:rPr lang="en-IN" sz="1200" dirty="0">
                <a:latin typeface="Aptos" panose="020B0004020202020204" pitchFamily="34" charset="0"/>
              </a:rPr>
              <a:t> import (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accuracy_score</a:t>
            </a:r>
            <a:r>
              <a:rPr lang="en-IN" sz="1200" dirty="0">
                <a:latin typeface="Aptos" panose="020B0004020202020204" pitchFamily="34" charset="0"/>
              </a:rPr>
              <a:t>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precision_score</a:t>
            </a:r>
            <a:r>
              <a:rPr lang="en-IN" sz="1200" dirty="0">
                <a:latin typeface="Aptos" panose="020B0004020202020204" pitchFamily="34" charset="0"/>
              </a:rPr>
              <a:t>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recall_score</a:t>
            </a:r>
            <a:r>
              <a:rPr lang="en-IN" sz="1200" dirty="0">
                <a:latin typeface="Aptos" panose="020B0004020202020204" pitchFamily="34" charset="0"/>
              </a:rPr>
              <a:t>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f1_score,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roc_auc_score</a:t>
            </a:r>
            <a:r>
              <a:rPr lang="en-IN" sz="1200" dirty="0">
                <a:latin typeface="Aptos" panose="020B0004020202020204" pitchFamily="34" charset="0"/>
              </a:rPr>
              <a:t>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confusion_matrix</a:t>
            </a:r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 err="1">
                <a:latin typeface="Aptos" panose="020B0004020202020204" pitchFamily="34" charset="0"/>
              </a:rPr>
              <a:t>y_pred</a:t>
            </a:r>
            <a:r>
              <a:rPr lang="en-IN" sz="1200" dirty="0">
                <a:latin typeface="Aptos" panose="020B0004020202020204" pitchFamily="34" charset="0"/>
              </a:rPr>
              <a:t> = </a:t>
            </a:r>
            <a:r>
              <a:rPr lang="en-IN" sz="1200" dirty="0" err="1">
                <a:latin typeface="Aptos" panose="020B0004020202020204" pitchFamily="34" charset="0"/>
              </a:rPr>
              <a:t>model.predict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X_test</a:t>
            </a:r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r>
              <a:rPr lang="en-IN" sz="1200" dirty="0" err="1">
                <a:latin typeface="Aptos" panose="020B0004020202020204" pitchFamily="34" charset="0"/>
              </a:rPr>
              <a:t>y_prob</a:t>
            </a:r>
            <a:r>
              <a:rPr lang="en-IN" sz="1200" dirty="0">
                <a:latin typeface="Aptos" panose="020B0004020202020204" pitchFamily="34" charset="0"/>
              </a:rPr>
              <a:t> = </a:t>
            </a:r>
            <a:r>
              <a:rPr lang="en-IN" sz="1200" dirty="0" err="1">
                <a:latin typeface="Aptos" panose="020B0004020202020204" pitchFamily="34" charset="0"/>
              </a:rPr>
              <a:t>model.predict_proba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X_test</a:t>
            </a:r>
            <a:r>
              <a:rPr lang="en-IN" sz="1200" dirty="0">
                <a:latin typeface="Aptos" panose="020B0004020202020204" pitchFamily="34" charset="0"/>
              </a:rPr>
              <a:t>)[:, 1]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accuracy = </a:t>
            </a:r>
            <a:r>
              <a:rPr lang="en-IN" sz="1200" dirty="0" err="1">
                <a:latin typeface="Aptos" panose="020B0004020202020204" pitchFamily="34" charset="0"/>
              </a:rPr>
              <a:t>accuracy_score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y_test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y_pred</a:t>
            </a:r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r>
              <a:rPr lang="en-IN" sz="1200" dirty="0">
                <a:latin typeface="Aptos" panose="020B0004020202020204" pitchFamily="34" charset="0"/>
              </a:rPr>
              <a:t>precision = </a:t>
            </a:r>
            <a:r>
              <a:rPr lang="en-IN" sz="1200" dirty="0" err="1">
                <a:latin typeface="Aptos" panose="020B0004020202020204" pitchFamily="34" charset="0"/>
              </a:rPr>
              <a:t>precision_score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y_test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y_pred</a:t>
            </a:r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r>
              <a:rPr lang="en-IN" sz="1200" dirty="0">
                <a:latin typeface="Aptos" panose="020B0004020202020204" pitchFamily="34" charset="0"/>
              </a:rPr>
              <a:t>recall = </a:t>
            </a:r>
            <a:r>
              <a:rPr lang="en-IN" sz="1200" dirty="0" err="1">
                <a:latin typeface="Aptos" panose="020B0004020202020204" pitchFamily="34" charset="0"/>
              </a:rPr>
              <a:t>recall_score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y_test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y_pred</a:t>
            </a:r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r>
              <a:rPr lang="en-IN" sz="1200" dirty="0">
                <a:latin typeface="Aptos" panose="020B0004020202020204" pitchFamily="34" charset="0"/>
              </a:rPr>
              <a:t>f1 = f1_score(</a:t>
            </a:r>
            <a:r>
              <a:rPr lang="en-IN" sz="1200" dirty="0" err="1">
                <a:latin typeface="Aptos" panose="020B0004020202020204" pitchFamily="34" charset="0"/>
              </a:rPr>
              <a:t>y_test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y_pred</a:t>
            </a:r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r>
              <a:rPr lang="en-IN" sz="1200" dirty="0" err="1">
                <a:latin typeface="Aptos" panose="020B0004020202020204" pitchFamily="34" charset="0"/>
              </a:rPr>
              <a:t>roc_auc</a:t>
            </a:r>
            <a:r>
              <a:rPr lang="en-IN" sz="1200" dirty="0">
                <a:latin typeface="Aptos" panose="020B0004020202020204" pitchFamily="34" charset="0"/>
              </a:rPr>
              <a:t> = </a:t>
            </a:r>
            <a:r>
              <a:rPr lang="en-IN" sz="1200" dirty="0" err="1">
                <a:latin typeface="Aptos" panose="020B0004020202020204" pitchFamily="34" charset="0"/>
              </a:rPr>
              <a:t>roc_auc_score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y_test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y_prob</a:t>
            </a:r>
            <a:r>
              <a:rPr lang="en-IN" sz="1200" dirty="0">
                <a:latin typeface="Aptos" panose="020B0004020202020204" pitchFamily="34" charset="0"/>
              </a:rPr>
              <a:t>)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cm = </a:t>
            </a:r>
            <a:r>
              <a:rPr lang="en-IN" sz="1200" dirty="0" err="1">
                <a:latin typeface="Aptos" panose="020B0004020202020204" pitchFamily="34" charset="0"/>
              </a:rPr>
              <a:t>confusion_matrix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y_test</a:t>
            </a:r>
            <a:r>
              <a:rPr lang="en-IN" sz="1200" dirty="0">
                <a:latin typeface="Aptos" panose="020B0004020202020204" pitchFamily="34" charset="0"/>
              </a:rPr>
              <a:t>, </a:t>
            </a:r>
            <a:r>
              <a:rPr lang="en-IN" sz="1200" dirty="0" err="1">
                <a:latin typeface="Aptos" panose="020B0004020202020204" pitchFamily="34" charset="0"/>
              </a:rPr>
              <a:t>y_pred</a:t>
            </a:r>
            <a:r>
              <a:rPr lang="en-IN" sz="1200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BFDED-3475-E6F9-ACA4-BDC5DFEA7E16}"/>
              </a:ext>
            </a:extLst>
          </p:cNvPr>
          <p:cNvSpPr txBox="1"/>
          <p:nvPr/>
        </p:nvSpPr>
        <p:spPr>
          <a:xfrm>
            <a:off x="5801032" y="1563329"/>
            <a:ext cx="370676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ptos" panose="020B0004020202020204" pitchFamily="34" charset="0"/>
              </a:rPr>
              <a:t>@app.post("/api/predict")</a:t>
            </a:r>
          </a:p>
          <a:p>
            <a:r>
              <a:rPr lang="en-IN" sz="1200" dirty="0">
                <a:latin typeface="Aptos" panose="020B0004020202020204" pitchFamily="34" charset="0"/>
              </a:rPr>
              <a:t>def </a:t>
            </a:r>
            <a:r>
              <a:rPr lang="en-IN" sz="1200" dirty="0" err="1">
                <a:latin typeface="Aptos" panose="020B0004020202020204" pitchFamily="34" charset="0"/>
              </a:rPr>
              <a:t>predict_employee</a:t>
            </a:r>
            <a:r>
              <a:rPr lang="en-IN" sz="1200" dirty="0">
                <a:latin typeface="Aptos" panose="020B0004020202020204" pitchFamily="34" charset="0"/>
              </a:rPr>
              <a:t>(data: </a:t>
            </a:r>
            <a:r>
              <a:rPr lang="en-IN" sz="1200" dirty="0" err="1">
                <a:latin typeface="Aptos" panose="020B0004020202020204" pitchFamily="34" charset="0"/>
              </a:rPr>
              <a:t>EmployeeInput</a:t>
            </a:r>
            <a:r>
              <a:rPr lang="en-IN" sz="1200" dirty="0">
                <a:latin typeface="Aptos" panose="020B0004020202020204" pitchFamily="34" charset="0"/>
              </a:rPr>
              <a:t>):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    </a:t>
            </a:r>
            <a:r>
              <a:rPr lang="en-IN" sz="1200" dirty="0" err="1">
                <a:latin typeface="Aptos" panose="020B0004020202020204" pitchFamily="34" charset="0"/>
              </a:rPr>
              <a:t>employee_df</a:t>
            </a:r>
            <a:r>
              <a:rPr lang="en-IN" sz="1200" dirty="0">
                <a:latin typeface="Aptos" panose="020B0004020202020204" pitchFamily="34" charset="0"/>
              </a:rPr>
              <a:t> = </a:t>
            </a:r>
            <a:r>
              <a:rPr lang="en-IN" sz="1200" dirty="0" err="1">
                <a:latin typeface="Aptos" panose="020B0004020202020204" pitchFamily="34" charset="0"/>
              </a:rPr>
              <a:t>pd.DataFrame</a:t>
            </a:r>
            <a:r>
              <a:rPr lang="en-IN" sz="1200" dirty="0">
                <a:latin typeface="Aptos" panose="020B0004020202020204" pitchFamily="34" charset="0"/>
              </a:rPr>
              <a:t>([</a:t>
            </a:r>
            <a:r>
              <a:rPr lang="en-IN" sz="1200" dirty="0" err="1">
                <a:latin typeface="Aptos" panose="020B0004020202020204" pitchFamily="34" charset="0"/>
              </a:rPr>
              <a:t>data.dict</a:t>
            </a:r>
            <a:r>
              <a:rPr lang="en-IN" sz="1200" dirty="0">
                <a:latin typeface="Aptos" panose="020B0004020202020204" pitchFamily="34" charset="0"/>
              </a:rPr>
              <a:t>()])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    prediction = </a:t>
            </a:r>
            <a:r>
              <a:rPr lang="en-IN" sz="1200" dirty="0" err="1">
                <a:latin typeface="Aptos" panose="020B0004020202020204" pitchFamily="34" charset="0"/>
              </a:rPr>
              <a:t>model.predict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employee_df</a:t>
            </a:r>
            <a:r>
              <a:rPr lang="en-IN" sz="1200" dirty="0">
                <a:latin typeface="Aptos" panose="020B0004020202020204" pitchFamily="34" charset="0"/>
              </a:rPr>
              <a:t>)[0]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probability = </a:t>
            </a:r>
            <a:r>
              <a:rPr lang="en-IN" sz="1200" dirty="0" err="1">
                <a:latin typeface="Aptos" panose="020B0004020202020204" pitchFamily="34" charset="0"/>
              </a:rPr>
              <a:t>model.predict_proba</a:t>
            </a:r>
            <a:r>
              <a:rPr lang="en-IN" sz="1200" dirty="0">
                <a:latin typeface="Aptos" panose="020B0004020202020204" pitchFamily="34" charset="0"/>
              </a:rPr>
              <a:t>(</a:t>
            </a:r>
            <a:r>
              <a:rPr lang="en-IN" sz="1200" dirty="0" err="1">
                <a:latin typeface="Aptos" panose="020B0004020202020204" pitchFamily="34" charset="0"/>
              </a:rPr>
              <a:t>employee_df</a:t>
            </a:r>
            <a:r>
              <a:rPr lang="en-IN" sz="1200" dirty="0">
                <a:latin typeface="Aptos" panose="020B0004020202020204" pitchFamily="34" charset="0"/>
              </a:rPr>
              <a:t>)[0][1]</a:t>
            </a:r>
          </a:p>
          <a:p>
            <a:endParaRPr lang="en-IN" sz="1200" dirty="0">
              <a:latin typeface="Aptos" panose="020B0004020202020204" pitchFamily="34" charset="0"/>
            </a:endParaRPr>
          </a:p>
          <a:p>
            <a:r>
              <a:rPr lang="en-IN" sz="1200" dirty="0">
                <a:latin typeface="Aptos" panose="020B0004020202020204" pitchFamily="34" charset="0"/>
              </a:rPr>
              <a:t>    return {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    "prediction": int(prediction),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    "</a:t>
            </a:r>
            <a:r>
              <a:rPr lang="en-IN" sz="1200" dirty="0" err="1">
                <a:latin typeface="Aptos" panose="020B0004020202020204" pitchFamily="34" charset="0"/>
              </a:rPr>
              <a:t>risk_probability</a:t>
            </a:r>
            <a:r>
              <a:rPr lang="en-IN" sz="1200" dirty="0">
                <a:latin typeface="Aptos" panose="020B0004020202020204" pitchFamily="34" charset="0"/>
              </a:rPr>
              <a:t>": float(probability)</a:t>
            </a:r>
          </a:p>
          <a:p>
            <a:r>
              <a:rPr lang="en-IN" sz="1200" dirty="0">
                <a:latin typeface="Aptos" panose="020B00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546024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2D81C-A5F7-78FA-A4B0-B39420791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6B0538-9234-8899-5409-8351037C3553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92E710-80CC-2E6C-AE1D-2CEADC6B8D29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344975-FC17-E6F6-2CFC-2C31631F5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843B23-9A95-CBB7-5B19-D85063695CE4}"/>
              </a:ext>
            </a:extLst>
          </p:cNvPr>
          <p:cNvSpPr txBox="1"/>
          <p:nvPr/>
        </p:nvSpPr>
        <p:spPr>
          <a:xfrm>
            <a:off x="511277" y="432619"/>
            <a:ext cx="19959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Aptos" panose="020B0004020202020204" pitchFamily="34" charset="0"/>
              </a:rPr>
              <a:t>Results</a:t>
            </a:r>
            <a:endParaRPr lang="en-IN" sz="3000" b="1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C36B0F-C6C3-C9B4-310E-995F02316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84" y="1355228"/>
            <a:ext cx="11562735" cy="550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F5BC9-1BA2-3C83-B27F-642F628D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9DE4A1-A06A-3623-FBEF-C9354B133C23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EF463-5115-BFE8-2D82-60CC560AE2F2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F31F89-5FAB-A7CE-F23A-651B236C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BE6C78-FC14-7DC3-AA90-16487B6DA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02" y="1120140"/>
            <a:ext cx="10217059" cy="5737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C52719-9FF5-6D00-8FD0-1E831B579599}"/>
              </a:ext>
            </a:extLst>
          </p:cNvPr>
          <p:cNvSpPr txBox="1"/>
          <p:nvPr/>
        </p:nvSpPr>
        <p:spPr>
          <a:xfrm>
            <a:off x="570271" y="501445"/>
            <a:ext cx="179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Single Employee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203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F14FA1-1E26-DFEE-5812-F8A50AFD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4A4078-73F6-1120-7EDC-40F5FD84507D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BEF71B-0FFB-7116-6377-B6CC55518606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FDB46A-815D-D391-080F-F22599545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337E9C-6084-23F0-D11C-2DBF43783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437624"/>
            <a:ext cx="8835573" cy="612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76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A926D-3E6D-5C97-0153-52A84D5E5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EB9183-7185-BF30-AA1A-5313D59FFD83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A3950A-0B08-83D4-322D-F7A75E394AA4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278B0F-BEE6-1B5C-52FE-5D90B2B21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D6E886-2758-39D8-EE90-51C73320C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33" y="1783498"/>
            <a:ext cx="10196444" cy="4549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EE57F0-0BB3-F221-B3C3-677309493F62}"/>
              </a:ext>
            </a:extLst>
          </p:cNvPr>
          <p:cNvSpPr txBox="1"/>
          <p:nvPr/>
        </p:nvSpPr>
        <p:spPr>
          <a:xfrm>
            <a:off x="580103" y="521110"/>
            <a:ext cx="215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447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D37CC-589B-6A90-4A3B-DC3A9A79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93C27D-7798-EF96-129D-C710035B505B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20C938-8A65-5FF9-9D43-3EFBDED65D06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CCCAE4-E603-6536-732E-89C367D63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77549A-39DE-F323-7B4D-C209B9D41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587"/>
            <a:ext cx="9670009" cy="507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95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88CD6-3F72-C95D-6BD4-45D68496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53A257-6FB6-230E-9626-3765C310092F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CE33BC-8975-D4DE-4645-AAB244B7B851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0F661-768D-25B4-EF14-CFEDD337F224}"/>
              </a:ext>
            </a:extLst>
          </p:cNvPr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13FE88-9729-9975-7CFA-02A0558CF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E8D8C0-2AB8-D8F6-A332-6CAF71BE8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142" y="1484671"/>
            <a:ext cx="7536303" cy="5163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78EB7C-3E74-705F-BA46-D401AD0CA6F5}"/>
              </a:ext>
            </a:extLst>
          </p:cNvPr>
          <p:cNvSpPr txBox="1"/>
          <p:nvPr/>
        </p:nvSpPr>
        <p:spPr>
          <a:xfrm>
            <a:off x="2084439" y="894735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dataset top 15 employes displayed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917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10AA1-2A72-9AE2-C3AD-46E474A7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B13163-F2E2-01D3-831E-D099DDEEAD65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851AAC-BDE0-69AA-DBFF-8AD1E461CBF3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EDB72-65FD-E9C3-C454-448CCC07D84B}"/>
              </a:ext>
            </a:extLst>
          </p:cNvPr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19E679-2161-53B3-E2AA-DC251F80D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30CB20-929A-3799-2D18-8EF39A86BB4C}"/>
              </a:ext>
            </a:extLst>
          </p:cNvPr>
          <p:cNvSpPr txBox="1"/>
          <p:nvPr/>
        </p:nvSpPr>
        <p:spPr>
          <a:xfrm>
            <a:off x="570271" y="470711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Aptos Display" panose="020B0004020202020204" pitchFamily="34" charset="0"/>
              </a:rPr>
              <a:t>Performance 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FE947-8E0A-40CE-3BA6-B49122A62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26" y="1334017"/>
            <a:ext cx="11357442" cy="498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41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B201C-BEB5-DEE1-2A84-AB475666A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BC2C50-2C11-3382-8313-C03D6BCF659E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0B23CF-457A-F503-DEF4-59E49DA3615F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1CBA25-93CB-1F86-6A40-21EE2ADF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392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6624C-F348-F0F6-DB60-0147095C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DC0E8-F65A-BBE4-FCCB-139213611AE0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960652-65BD-9604-D9A9-45B3BCF67F7D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7E5B89-1238-BF84-5D9F-B791D85D3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28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4B3F4C-C285-7D1E-187C-DE7B7CFA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BE6B78-89AD-5B10-0398-0351C50CF7A4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70AA9-2C8A-F6D9-B909-4CDFE0F6774D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35B9FC-1E29-9815-D538-D605A2BED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50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BA0EB-52A4-2C2D-357A-02EFF726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8F8C1D-8179-BFF6-D0A0-E0538636E0B3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C6A492-50FF-805D-35EF-8469F049E443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BA546-B58F-7261-7404-D578F5CAB82E}"/>
              </a:ext>
            </a:extLst>
          </p:cNvPr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B0BBC8-0CAE-0F4B-DE72-0AB25E7A8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F07069-531D-37BA-DA7B-05A83AEA93F3}"/>
              </a:ext>
            </a:extLst>
          </p:cNvPr>
          <p:cNvSpPr txBox="1"/>
          <p:nvPr/>
        </p:nvSpPr>
        <p:spPr>
          <a:xfrm>
            <a:off x="570271" y="37837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rgbClr val="162746"/>
                </a:solidFill>
                <a:latin typeface="Aptos Display"/>
              </a:rPr>
              <a:t>System Design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81F56F15-5A5C-C362-57B3-2F58FEB7D7C2}"/>
              </a:ext>
            </a:extLst>
          </p:cNvPr>
          <p:cNvSpPr/>
          <p:nvPr/>
        </p:nvSpPr>
        <p:spPr>
          <a:xfrm>
            <a:off x="356616" y="1460582"/>
            <a:ext cx="1417320" cy="914400"/>
          </a:xfrm>
          <a:prstGeom prst="round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Employee
Input</a:t>
            </a:r>
          </a:p>
        </p:txBody>
      </p:sp>
      <p:cxnSp>
        <p:nvCxnSpPr>
          <p:cNvPr id="14" name="Connector 6">
            <a:extLst>
              <a:ext uri="{FF2B5EF4-FFF2-40B4-BE49-F238E27FC236}">
                <a16:creationId xmlns:a16="http://schemas.microsoft.com/office/drawing/2014/main" id="{C623FDD1-8A6B-2987-D701-AF1EC594CF5C}"/>
              </a:ext>
            </a:extLst>
          </p:cNvPr>
          <p:cNvCxnSpPr/>
          <p:nvPr/>
        </p:nvCxnSpPr>
        <p:spPr>
          <a:xfrm>
            <a:off x="1828800" y="1966943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E787E885-001F-5606-D7E9-7E005C6F994A}"/>
              </a:ext>
            </a:extLst>
          </p:cNvPr>
          <p:cNvSpPr/>
          <p:nvPr/>
        </p:nvSpPr>
        <p:spPr>
          <a:xfrm>
            <a:off x="2054350" y="1475822"/>
            <a:ext cx="1417320" cy="914400"/>
          </a:xfrm>
          <a:prstGeom prst="roundRect">
            <a:avLst/>
          </a:prstGeom>
          <a:solidFill>
            <a:srgbClr val="209691"/>
          </a:solidFill>
          <a:ln>
            <a:solidFill>
              <a:srgbClr val="2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Frontend
HTML/CSS/JS</a:t>
            </a:r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55439E9F-4B2A-81CA-30B8-539069CC3E51}"/>
              </a:ext>
            </a:extLst>
          </p:cNvPr>
          <p:cNvSpPr/>
          <p:nvPr/>
        </p:nvSpPr>
        <p:spPr>
          <a:xfrm>
            <a:off x="3794760" y="1460582"/>
            <a:ext cx="1417320" cy="914400"/>
          </a:xfrm>
          <a:prstGeom prst="roundRect">
            <a:avLst/>
          </a:prstGeom>
          <a:solidFill>
            <a:srgbClr val="7053AA"/>
          </a:solidFill>
          <a:ln>
            <a:solidFill>
              <a:srgbClr val="705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FastAPI
Backend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5E97BBFF-5F53-ABC6-0662-1698B0F4E9EC}"/>
              </a:ext>
            </a:extLst>
          </p:cNvPr>
          <p:cNvSpPr/>
          <p:nvPr/>
        </p:nvSpPr>
        <p:spPr>
          <a:xfrm>
            <a:off x="5513832" y="1460582"/>
            <a:ext cx="1417320" cy="914400"/>
          </a:xfrm>
          <a:prstGeom prst="roundRect">
            <a:avLst/>
          </a:prstGeom>
          <a:solidFill>
            <a:srgbClr val="E68937"/>
          </a:solidFill>
          <a:ln>
            <a:solidFill>
              <a:srgbClr val="E6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>Data 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Preprocessing
</a:t>
            </a:r>
          </a:p>
        </p:txBody>
      </p:sp>
      <p:sp>
        <p:nvSpPr>
          <p:cNvPr id="26" name="Rounded Rectangle 13">
            <a:extLst>
              <a:ext uri="{FF2B5EF4-FFF2-40B4-BE49-F238E27FC236}">
                <a16:creationId xmlns:a16="http://schemas.microsoft.com/office/drawing/2014/main" id="{F322E0C5-EE3D-EF82-690F-687B87B47BAC}"/>
              </a:ext>
            </a:extLst>
          </p:cNvPr>
          <p:cNvSpPr/>
          <p:nvPr/>
        </p:nvSpPr>
        <p:spPr>
          <a:xfrm>
            <a:off x="7281674" y="1460582"/>
            <a:ext cx="1417320" cy="914400"/>
          </a:xfrm>
          <a:prstGeom prst="roundRect">
            <a:avLst/>
          </a:prstGeom>
          <a:solidFill>
            <a:srgbClr val="36915C"/>
          </a:solidFill>
          <a:ln>
            <a:solidFill>
              <a:srgbClr val="36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Aptos"/>
              </a:rPr>
              <a:t>XGBoost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
Model</a:t>
            </a:r>
          </a:p>
        </p:txBody>
      </p:sp>
      <p:sp>
        <p:nvSpPr>
          <p:cNvPr id="28" name="Rounded Rectangle 15">
            <a:extLst>
              <a:ext uri="{FF2B5EF4-FFF2-40B4-BE49-F238E27FC236}">
                <a16:creationId xmlns:a16="http://schemas.microsoft.com/office/drawing/2014/main" id="{A1435ABA-A59B-1AAF-CB13-E78F6E3DD267}"/>
              </a:ext>
            </a:extLst>
          </p:cNvPr>
          <p:cNvSpPr/>
          <p:nvPr/>
        </p:nvSpPr>
        <p:spPr>
          <a:xfrm>
            <a:off x="9049516" y="1426661"/>
            <a:ext cx="1417320" cy="914400"/>
          </a:xfrm>
          <a:prstGeom prst="roundRect">
            <a:avLst/>
          </a:prstGeom>
          <a:solidFill>
            <a:srgbClr val="CD4B4B"/>
          </a:solidFill>
          <a:ln>
            <a:solidFill>
              <a:srgbClr val="CD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Risk +
Probability</a:t>
            </a: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E9C20B31-1380-E298-1CEB-239230CFCCC5}"/>
              </a:ext>
            </a:extLst>
          </p:cNvPr>
          <p:cNvSpPr/>
          <p:nvPr/>
        </p:nvSpPr>
        <p:spPr>
          <a:xfrm>
            <a:off x="10747250" y="1426661"/>
            <a:ext cx="1417320" cy="914400"/>
          </a:xfrm>
          <a:prstGeom prst="roundRect">
            <a:avLst/>
          </a:prstGeom>
          <a:solidFill>
            <a:srgbClr val="7053AA"/>
          </a:solidFill>
          <a:ln>
            <a:solidFill>
              <a:srgbClr val="705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SHAP + LIME
Explanation</a:t>
            </a:r>
          </a:p>
        </p:txBody>
      </p:sp>
      <p:cxnSp>
        <p:nvCxnSpPr>
          <p:cNvPr id="31" name="Connector 6">
            <a:extLst>
              <a:ext uri="{FF2B5EF4-FFF2-40B4-BE49-F238E27FC236}">
                <a16:creationId xmlns:a16="http://schemas.microsoft.com/office/drawing/2014/main" id="{1F209787-7D3E-ADE7-9D2F-3F7D6094B2FB}"/>
              </a:ext>
            </a:extLst>
          </p:cNvPr>
          <p:cNvCxnSpPr>
            <a:cxnSpLocks/>
          </p:cNvCxnSpPr>
          <p:nvPr/>
        </p:nvCxnSpPr>
        <p:spPr>
          <a:xfrm>
            <a:off x="3526831" y="1933022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6">
            <a:extLst>
              <a:ext uri="{FF2B5EF4-FFF2-40B4-BE49-F238E27FC236}">
                <a16:creationId xmlns:a16="http://schemas.microsoft.com/office/drawing/2014/main" id="{CF686613-76E3-069B-AE71-0A320D8A4465}"/>
              </a:ext>
            </a:extLst>
          </p:cNvPr>
          <p:cNvCxnSpPr/>
          <p:nvPr/>
        </p:nvCxnSpPr>
        <p:spPr>
          <a:xfrm>
            <a:off x="5277956" y="1966943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6">
            <a:extLst>
              <a:ext uri="{FF2B5EF4-FFF2-40B4-BE49-F238E27FC236}">
                <a16:creationId xmlns:a16="http://schemas.microsoft.com/office/drawing/2014/main" id="{F3395ADB-D6FB-0071-5B12-AF9F5DA3DDA6}"/>
              </a:ext>
            </a:extLst>
          </p:cNvPr>
          <p:cNvCxnSpPr/>
          <p:nvPr/>
        </p:nvCxnSpPr>
        <p:spPr>
          <a:xfrm>
            <a:off x="7005484" y="1962518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6">
            <a:extLst>
              <a:ext uri="{FF2B5EF4-FFF2-40B4-BE49-F238E27FC236}">
                <a16:creationId xmlns:a16="http://schemas.microsoft.com/office/drawing/2014/main" id="{22101A28-1320-6A74-4BD8-4D5CB96C6C5F}"/>
              </a:ext>
            </a:extLst>
          </p:cNvPr>
          <p:cNvCxnSpPr/>
          <p:nvPr/>
        </p:nvCxnSpPr>
        <p:spPr>
          <a:xfrm>
            <a:off x="8790434" y="1949735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6">
            <a:extLst>
              <a:ext uri="{FF2B5EF4-FFF2-40B4-BE49-F238E27FC236}">
                <a16:creationId xmlns:a16="http://schemas.microsoft.com/office/drawing/2014/main" id="{6FBADA02-3A48-4177-79EA-FA0635203B9E}"/>
              </a:ext>
            </a:extLst>
          </p:cNvPr>
          <p:cNvCxnSpPr/>
          <p:nvPr/>
        </p:nvCxnSpPr>
        <p:spPr>
          <a:xfrm>
            <a:off x="10466836" y="1913357"/>
            <a:ext cx="182880" cy="0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DA329E24-8F99-3536-172D-4D46612AD596}"/>
              </a:ext>
            </a:extLst>
          </p:cNvPr>
          <p:cNvSpPr/>
          <p:nvPr/>
        </p:nvSpPr>
        <p:spPr>
          <a:xfrm>
            <a:off x="4982496" y="4203781"/>
            <a:ext cx="2743200" cy="822960"/>
          </a:xfrm>
          <a:prstGeom prst="round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Final Result
shown on website</a:t>
            </a:r>
          </a:p>
        </p:txBody>
      </p:sp>
      <p:cxnSp>
        <p:nvCxnSpPr>
          <p:cNvPr id="43" name="Connector 19">
            <a:extLst>
              <a:ext uri="{FF2B5EF4-FFF2-40B4-BE49-F238E27FC236}">
                <a16:creationId xmlns:a16="http://schemas.microsoft.com/office/drawing/2014/main" id="{F7796EAC-FF23-581D-FF47-BE9709A810F0}"/>
              </a:ext>
            </a:extLst>
          </p:cNvPr>
          <p:cNvCxnSpPr>
            <a:cxnSpLocks/>
          </p:cNvCxnSpPr>
          <p:nvPr/>
        </p:nvCxnSpPr>
        <p:spPr>
          <a:xfrm flipH="1">
            <a:off x="6194323" y="2390222"/>
            <a:ext cx="4817806" cy="1813559"/>
          </a:xfrm>
          <a:prstGeom prst="line">
            <a:avLst/>
          </a:prstGeom>
          <a:ln w="2794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043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1FDCC-2517-DC42-0412-C988204D7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0BAA62-CD0B-F96A-ABCD-6C51321F412C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67B4E-5863-F80F-CE3E-061FD1B6B481}"/>
              </a:ext>
            </a:extLst>
          </p:cNvPr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E9F39-E789-9990-9D19-72507D9A1948}"/>
              </a:ext>
            </a:extLst>
          </p:cNvPr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97506C-0CFD-F330-FD56-E589BA2CF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0C64DB-A00F-5CE8-2D9F-3EC72E5D32AD}"/>
              </a:ext>
            </a:extLst>
          </p:cNvPr>
          <p:cNvSpPr txBox="1"/>
          <p:nvPr/>
        </p:nvSpPr>
        <p:spPr>
          <a:xfrm>
            <a:off x="509061" y="442452"/>
            <a:ext cx="46899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Aptos" panose="020B0004020202020204" pitchFamily="34" charset="0"/>
              </a:rPr>
              <a:t>Methodology</a:t>
            </a:r>
          </a:p>
          <a:p>
            <a:endParaRPr lang="en-IN" sz="3000" b="1" dirty="0">
              <a:latin typeface="Aptos" panose="020B0004020202020204" pitchFamily="34" charset="0"/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1A065136-13E8-4C74-24F6-1523BAD2A59B}"/>
              </a:ext>
            </a:extLst>
          </p:cNvPr>
          <p:cNvSpPr/>
          <p:nvPr/>
        </p:nvSpPr>
        <p:spPr>
          <a:xfrm>
            <a:off x="372485" y="1263642"/>
            <a:ext cx="3154680" cy="960120"/>
          </a:xfrm>
          <a:prstGeom prst="roundRect">
            <a:avLst/>
          </a:prstGeom>
          <a:solidFill>
            <a:srgbClr val="2B69BE"/>
          </a:solidFill>
          <a:ln>
            <a:solidFill>
              <a:srgbClr val="2B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Data Collection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 Dataset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6AEA5676-CE88-946A-1B2D-ADB95764D1C0}"/>
              </a:ext>
            </a:extLst>
          </p:cNvPr>
          <p:cNvSpPr/>
          <p:nvPr/>
        </p:nvSpPr>
        <p:spPr>
          <a:xfrm>
            <a:off x="4473307" y="1254341"/>
            <a:ext cx="3154680" cy="960120"/>
          </a:xfrm>
          <a:prstGeom prst="roundRect">
            <a:avLst/>
          </a:prstGeom>
          <a:solidFill>
            <a:srgbClr val="209797"/>
          </a:solidFill>
          <a:ln>
            <a:solidFill>
              <a:srgbClr val="20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Data Preprocessing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Cleaning &amp; Encoding</a:t>
            </a:r>
          </a:p>
        </p:txBody>
      </p:sp>
      <p:sp>
        <p:nvSpPr>
          <p:cNvPr id="13" name="Right Arrow 3">
            <a:extLst>
              <a:ext uri="{FF2B5EF4-FFF2-40B4-BE49-F238E27FC236}">
                <a16:creationId xmlns:a16="http://schemas.microsoft.com/office/drawing/2014/main" id="{143B6A32-967C-B4A0-0D57-5C472D1151C8}"/>
              </a:ext>
            </a:extLst>
          </p:cNvPr>
          <p:cNvSpPr/>
          <p:nvPr/>
        </p:nvSpPr>
        <p:spPr>
          <a:xfrm>
            <a:off x="3523974" y="1610376"/>
            <a:ext cx="438912" cy="292608"/>
          </a:xfrm>
          <a:prstGeom prst="rightArrow">
            <a:avLst/>
          </a:prstGeom>
          <a:solidFill>
            <a:srgbClr val="919191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81FF70E2-94E6-579B-538E-29207ABCC7DB}"/>
              </a:ext>
            </a:extLst>
          </p:cNvPr>
          <p:cNvSpPr/>
          <p:nvPr/>
        </p:nvSpPr>
        <p:spPr>
          <a:xfrm>
            <a:off x="8427524" y="1276620"/>
            <a:ext cx="3154680" cy="960120"/>
          </a:xfrm>
          <a:prstGeom prst="roundRect">
            <a:avLst/>
          </a:prstGeom>
          <a:solidFill>
            <a:srgbClr val="6A48AE"/>
          </a:solidFill>
          <a:ln>
            <a:solidFill>
              <a:srgbClr val="6A4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Feature Engineering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Relevant Features</a:t>
            </a:r>
          </a:p>
        </p:txBody>
      </p:sp>
      <p:sp>
        <p:nvSpPr>
          <p:cNvPr id="17" name="Right Arrow 5">
            <a:extLst>
              <a:ext uri="{FF2B5EF4-FFF2-40B4-BE49-F238E27FC236}">
                <a16:creationId xmlns:a16="http://schemas.microsoft.com/office/drawing/2014/main" id="{1E5C1BFE-2C90-2DE5-B664-12E429F38FD9}"/>
              </a:ext>
            </a:extLst>
          </p:cNvPr>
          <p:cNvSpPr/>
          <p:nvPr/>
        </p:nvSpPr>
        <p:spPr>
          <a:xfrm>
            <a:off x="7627987" y="1610376"/>
            <a:ext cx="438912" cy="292608"/>
          </a:xfrm>
          <a:prstGeom prst="rightArrow">
            <a:avLst/>
          </a:prstGeom>
          <a:solidFill>
            <a:srgbClr val="919191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ounded Rectangle 8">
            <a:extLst>
              <a:ext uri="{FF2B5EF4-FFF2-40B4-BE49-F238E27FC236}">
                <a16:creationId xmlns:a16="http://schemas.microsoft.com/office/drawing/2014/main" id="{307193A3-8C46-E35B-46FC-2EECEFD943AB}"/>
              </a:ext>
            </a:extLst>
          </p:cNvPr>
          <p:cNvSpPr/>
          <p:nvPr/>
        </p:nvSpPr>
        <p:spPr>
          <a:xfrm>
            <a:off x="676656" y="2822988"/>
            <a:ext cx="3154680" cy="960120"/>
          </a:xfrm>
          <a:prstGeom prst="roundRect">
            <a:avLst/>
          </a:prstGeom>
          <a:solidFill>
            <a:srgbClr val="EB8530"/>
          </a:solidFill>
          <a:ln>
            <a:solidFill>
              <a:srgbClr val="EB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Train–Test Split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Training | Testing</a:t>
            </a:r>
          </a:p>
        </p:txBody>
      </p:sp>
      <p:sp>
        <p:nvSpPr>
          <p:cNvPr id="25" name="Right Arrow 5">
            <a:extLst>
              <a:ext uri="{FF2B5EF4-FFF2-40B4-BE49-F238E27FC236}">
                <a16:creationId xmlns:a16="http://schemas.microsoft.com/office/drawing/2014/main" id="{3C979233-A2B2-AE75-6C41-C8DB1717364D}"/>
              </a:ext>
            </a:extLst>
          </p:cNvPr>
          <p:cNvSpPr/>
          <p:nvPr/>
        </p:nvSpPr>
        <p:spPr>
          <a:xfrm>
            <a:off x="97429" y="3156744"/>
            <a:ext cx="438912" cy="292608"/>
          </a:xfrm>
          <a:prstGeom prst="rightArrow">
            <a:avLst/>
          </a:prstGeom>
          <a:solidFill>
            <a:srgbClr val="919191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D5031D48-BC17-4007-0C25-C6280B0A3531}"/>
              </a:ext>
            </a:extLst>
          </p:cNvPr>
          <p:cNvSpPr/>
          <p:nvPr/>
        </p:nvSpPr>
        <p:spPr>
          <a:xfrm>
            <a:off x="4467835" y="2855088"/>
            <a:ext cx="3154680" cy="960120"/>
          </a:xfrm>
          <a:prstGeom prst="roundRect">
            <a:avLst/>
          </a:prstGeom>
          <a:solidFill>
            <a:srgbClr val="33975C"/>
          </a:solidFill>
          <a:ln>
            <a:solidFill>
              <a:srgbClr val="339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SMOTE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Training Data Only</a:t>
            </a:r>
          </a:p>
        </p:txBody>
      </p:sp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5FE28097-4703-601B-97DF-C0B0221E3310}"/>
              </a:ext>
            </a:extLst>
          </p:cNvPr>
          <p:cNvSpPr/>
          <p:nvPr/>
        </p:nvSpPr>
        <p:spPr>
          <a:xfrm>
            <a:off x="8296603" y="2800709"/>
            <a:ext cx="3154680" cy="960120"/>
          </a:xfrm>
          <a:prstGeom prst="roundRect">
            <a:avLst/>
          </a:prstGeom>
          <a:solidFill>
            <a:srgbClr val="376CBC"/>
          </a:solidFill>
          <a:ln>
            <a:solidFill>
              <a:srgbClr val="376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 err="1"/>
              <a:t>XGBoost</a:t>
            </a:r>
            <a:r>
              <a:rPr dirty="0"/>
              <a:t> Model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Model Training</a:t>
            </a:r>
          </a:p>
        </p:txBody>
      </p:sp>
      <p:sp>
        <p:nvSpPr>
          <p:cNvPr id="31" name="Rounded Rectangle 14">
            <a:extLst>
              <a:ext uri="{FF2B5EF4-FFF2-40B4-BE49-F238E27FC236}">
                <a16:creationId xmlns:a16="http://schemas.microsoft.com/office/drawing/2014/main" id="{4B4BBA56-D290-C08F-677B-DC964B73AC5F}"/>
              </a:ext>
            </a:extLst>
          </p:cNvPr>
          <p:cNvSpPr/>
          <p:nvPr/>
        </p:nvSpPr>
        <p:spPr>
          <a:xfrm>
            <a:off x="676656" y="4525779"/>
            <a:ext cx="3154680" cy="960120"/>
          </a:xfrm>
          <a:prstGeom prst="roundRect">
            <a:avLst/>
          </a:prstGeom>
          <a:solidFill>
            <a:srgbClr val="674BAD"/>
          </a:solidFill>
          <a:ln>
            <a:solidFill>
              <a:srgbClr val="674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Prediction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Leave / Stay + Risk</a:t>
            </a:r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9709A6EB-B63B-D68A-60D8-E06A881E5575}"/>
              </a:ext>
            </a:extLst>
          </p:cNvPr>
          <p:cNvSpPr/>
          <p:nvPr/>
        </p:nvSpPr>
        <p:spPr>
          <a:xfrm>
            <a:off x="4683145" y="4526232"/>
            <a:ext cx="3154680" cy="960120"/>
          </a:xfrm>
          <a:prstGeom prst="roundRect">
            <a:avLst/>
          </a:prstGeom>
          <a:solidFill>
            <a:srgbClr val="D2484B"/>
          </a:solidFill>
          <a:ln>
            <a:solidFill>
              <a:srgbClr val="D24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Explainable AI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LIME</a:t>
            </a:r>
            <a:r>
              <a:rPr lang="en-US" dirty="0"/>
              <a:t> &amp; SHAP</a:t>
            </a:r>
            <a:endParaRPr dirty="0"/>
          </a:p>
        </p:txBody>
      </p: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BC849F05-3BE3-29B8-8F04-08BEB373EB53}"/>
              </a:ext>
            </a:extLst>
          </p:cNvPr>
          <p:cNvSpPr/>
          <p:nvPr/>
        </p:nvSpPr>
        <p:spPr>
          <a:xfrm>
            <a:off x="8685259" y="4519937"/>
            <a:ext cx="3154680" cy="960120"/>
          </a:xfrm>
          <a:prstGeom prst="roundRect">
            <a:avLst/>
          </a:prstGeom>
          <a:solidFill>
            <a:srgbClr val="2B69BE"/>
          </a:solidFill>
          <a:ln>
            <a:solidFill>
              <a:srgbClr val="2B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Performance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7" name="Right Arrow 5">
            <a:extLst>
              <a:ext uri="{FF2B5EF4-FFF2-40B4-BE49-F238E27FC236}">
                <a16:creationId xmlns:a16="http://schemas.microsoft.com/office/drawing/2014/main" id="{8F3FF9D5-3580-F615-32FD-C0F7E6DFA046}"/>
              </a:ext>
            </a:extLst>
          </p:cNvPr>
          <p:cNvSpPr/>
          <p:nvPr/>
        </p:nvSpPr>
        <p:spPr>
          <a:xfrm>
            <a:off x="3844999" y="4853693"/>
            <a:ext cx="438912" cy="292608"/>
          </a:xfrm>
          <a:prstGeom prst="rightArrow">
            <a:avLst/>
          </a:prstGeom>
          <a:solidFill>
            <a:srgbClr val="919191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ight Arrow 5">
            <a:extLst>
              <a:ext uri="{FF2B5EF4-FFF2-40B4-BE49-F238E27FC236}">
                <a16:creationId xmlns:a16="http://schemas.microsoft.com/office/drawing/2014/main" id="{3A731363-2B49-DAD5-41C0-D9537B6F0729}"/>
              </a:ext>
            </a:extLst>
          </p:cNvPr>
          <p:cNvSpPr/>
          <p:nvPr/>
        </p:nvSpPr>
        <p:spPr>
          <a:xfrm>
            <a:off x="97429" y="4853693"/>
            <a:ext cx="438912" cy="292608"/>
          </a:xfrm>
          <a:prstGeom prst="rightArrow">
            <a:avLst/>
          </a:prstGeom>
          <a:solidFill>
            <a:srgbClr val="919191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Right Arrow 5">
            <a:extLst>
              <a:ext uri="{FF2B5EF4-FFF2-40B4-BE49-F238E27FC236}">
                <a16:creationId xmlns:a16="http://schemas.microsoft.com/office/drawing/2014/main" id="{790DDE54-DE06-5F2D-9D10-2BB3D042DBF4}"/>
              </a:ext>
            </a:extLst>
          </p:cNvPr>
          <p:cNvSpPr/>
          <p:nvPr/>
        </p:nvSpPr>
        <p:spPr>
          <a:xfrm>
            <a:off x="7627987" y="3206417"/>
            <a:ext cx="438912" cy="292608"/>
          </a:xfrm>
          <a:prstGeom prst="rightArrow">
            <a:avLst/>
          </a:prstGeom>
          <a:solidFill>
            <a:srgbClr val="919191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Right Arrow 5">
            <a:extLst>
              <a:ext uri="{FF2B5EF4-FFF2-40B4-BE49-F238E27FC236}">
                <a16:creationId xmlns:a16="http://schemas.microsoft.com/office/drawing/2014/main" id="{C60461F9-EBEB-3223-4FE3-F0D11294F609}"/>
              </a:ext>
            </a:extLst>
          </p:cNvPr>
          <p:cNvSpPr/>
          <p:nvPr/>
        </p:nvSpPr>
        <p:spPr>
          <a:xfrm>
            <a:off x="3844999" y="3177882"/>
            <a:ext cx="438912" cy="292608"/>
          </a:xfrm>
          <a:prstGeom prst="rightArrow">
            <a:avLst/>
          </a:prstGeom>
          <a:solidFill>
            <a:srgbClr val="919191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Right Arrow 5">
            <a:extLst>
              <a:ext uri="{FF2B5EF4-FFF2-40B4-BE49-F238E27FC236}">
                <a16:creationId xmlns:a16="http://schemas.microsoft.com/office/drawing/2014/main" id="{3244DD56-ADBF-2C75-3606-4D6689504A02}"/>
              </a:ext>
            </a:extLst>
          </p:cNvPr>
          <p:cNvSpPr/>
          <p:nvPr/>
        </p:nvSpPr>
        <p:spPr>
          <a:xfrm>
            <a:off x="7837825" y="4830992"/>
            <a:ext cx="438912" cy="292608"/>
          </a:xfrm>
          <a:prstGeom prst="rightArrow">
            <a:avLst/>
          </a:prstGeom>
          <a:solidFill>
            <a:srgbClr val="919191"/>
          </a:solidFill>
          <a:ln>
            <a:solidFill>
              <a:srgbClr val="91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4055632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301</TotalTime>
  <Words>2328</Words>
  <Application>Microsoft Office PowerPoint</Application>
  <PresentationFormat>Widescreen</PresentationFormat>
  <Paragraphs>297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Nishanth</dc:creator>
  <cp:keywords/>
  <dc:description>generated using python-pptx</dc:description>
  <cp:lastModifiedBy>nishanthgeriganti@outlook.com</cp:lastModifiedBy>
  <cp:revision>21</cp:revision>
  <dcterms:created xsi:type="dcterms:W3CDTF">2013-01-27T09:14:16Z</dcterms:created>
  <dcterms:modified xsi:type="dcterms:W3CDTF">2026-09-20T06:19:28Z</dcterms:modified>
  <cp:category/>
</cp:coreProperties>
</file>